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E4D79C-C07D-0B16-9D9D-1A6F1E81D1E7}" v="228" dt="2026-03-25T15:29:12.4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5D74CD-5766-4973-88C9-EF09439E328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1_2" csCatId="accent1" phldr="1"/>
      <dgm:spPr/>
      <dgm:t>
        <a:bodyPr/>
        <a:lstStyle/>
        <a:p>
          <a:endParaRPr lang="en-US"/>
        </a:p>
      </dgm:t>
    </dgm:pt>
    <dgm:pt modelId="{8DED02A3-1398-46F2-921A-D27DE6F121DC}">
      <dgm:prSet/>
      <dgm:spPr/>
      <dgm:t>
        <a:bodyPr/>
        <a:lstStyle/>
        <a:p>
          <a:r>
            <a:rPr lang="fr-FR"/>
            <a:t>Source: Maryland Open Data Portal</a:t>
          </a:r>
          <a:endParaRPr lang="en-US"/>
        </a:p>
      </dgm:t>
    </dgm:pt>
    <dgm:pt modelId="{E50CF0F1-8691-4322-96D9-ABB32666DD22}" type="parTrans" cxnId="{AE97DA3F-8EEC-4116-A665-459D48A30E24}">
      <dgm:prSet/>
      <dgm:spPr/>
      <dgm:t>
        <a:bodyPr/>
        <a:lstStyle/>
        <a:p>
          <a:endParaRPr lang="en-US"/>
        </a:p>
      </dgm:t>
    </dgm:pt>
    <dgm:pt modelId="{EEFCE5DE-E6A4-4EDF-B101-DEB96C10ADE1}" type="sibTrans" cxnId="{AE97DA3F-8EEC-4116-A665-459D48A30E24}">
      <dgm:prSet/>
      <dgm:spPr/>
      <dgm:t>
        <a:bodyPr/>
        <a:lstStyle/>
        <a:p>
          <a:endParaRPr lang="en-US"/>
        </a:p>
      </dgm:t>
    </dgm:pt>
    <dgm:pt modelId="{BEFC2F50-AF63-42DD-8694-05A2F7C89522}">
      <dgm:prSet/>
      <dgm:spPr/>
      <dgm:t>
        <a:bodyPr/>
        <a:lstStyle/>
        <a:p>
          <a:r>
            <a:rPr lang="fr-FR"/>
            <a:t>Time span: 2009–2024</a:t>
          </a:r>
          <a:endParaRPr lang="en-US"/>
        </a:p>
      </dgm:t>
    </dgm:pt>
    <dgm:pt modelId="{0518DF8B-EB07-4510-9CAE-281B0EA3E65A}" type="parTrans" cxnId="{3ADF4A21-CBFA-4061-9F19-B4B7F2138973}">
      <dgm:prSet/>
      <dgm:spPr/>
      <dgm:t>
        <a:bodyPr/>
        <a:lstStyle/>
        <a:p>
          <a:endParaRPr lang="en-US"/>
        </a:p>
      </dgm:t>
    </dgm:pt>
    <dgm:pt modelId="{280A603A-A701-4204-A485-E12AC426FB6C}" type="sibTrans" cxnId="{3ADF4A21-CBFA-4061-9F19-B4B7F2138973}">
      <dgm:prSet/>
      <dgm:spPr/>
      <dgm:t>
        <a:bodyPr/>
        <a:lstStyle/>
        <a:p>
          <a:endParaRPr lang="en-US"/>
        </a:p>
      </dgm:t>
    </dgm:pt>
    <dgm:pt modelId="{36989D22-20D2-4872-AA6F-B5B73B5F3547}">
      <dgm:prSet/>
      <dgm:spPr/>
      <dgm:t>
        <a:bodyPr/>
        <a:lstStyle/>
        <a:p>
          <a:r>
            <a:rPr lang="fr-FR"/>
            <a:t>Includes: Grants &amp; Loans ≥ $50,000</a:t>
          </a:r>
          <a:endParaRPr lang="en-US"/>
        </a:p>
      </dgm:t>
    </dgm:pt>
    <dgm:pt modelId="{76C1610A-BF57-46E7-A2C6-0D031B6EAA15}" type="parTrans" cxnId="{56B1A558-EE58-47E5-9496-9CD19900F07C}">
      <dgm:prSet/>
      <dgm:spPr/>
      <dgm:t>
        <a:bodyPr/>
        <a:lstStyle/>
        <a:p>
          <a:endParaRPr lang="en-US"/>
        </a:p>
      </dgm:t>
    </dgm:pt>
    <dgm:pt modelId="{55A8569A-9738-469A-829F-3E3DC8C8F0B1}" type="sibTrans" cxnId="{56B1A558-EE58-47E5-9496-9CD19900F07C}">
      <dgm:prSet/>
      <dgm:spPr/>
      <dgm:t>
        <a:bodyPr/>
        <a:lstStyle/>
        <a:p>
          <a:endParaRPr lang="en-US"/>
        </a:p>
      </dgm:t>
    </dgm:pt>
    <dgm:pt modelId="{ED789CCB-5CD5-4E1A-A31D-EF55F2AA46A9}">
      <dgm:prSet/>
      <dgm:spPr/>
      <dgm:t>
        <a:bodyPr/>
        <a:lstStyle/>
        <a:p>
          <a:r>
            <a:rPr lang="fr-FR"/>
            <a:t>Key variables:</a:t>
          </a:r>
          <a:endParaRPr lang="en-US"/>
        </a:p>
      </dgm:t>
    </dgm:pt>
    <dgm:pt modelId="{BB7FAF8C-DDA5-43A0-BB51-CAA1C675FE31}" type="parTrans" cxnId="{0E5563D9-05F4-47ED-AEC4-5F74FA52F6B8}">
      <dgm:prSet/>
      <dgm:spPr/>
      <dgm:t>
        <a:bodyPr/>
        <a:lstStyle/>
        <a:p>
          <a:endParaRPr lang="en-US"/>
        </a:p>
      </dgm:t>
    </dgm:pt>
    <dgm:pt modelId="{5E02E2BA-2414-4A4F-A067-FCFC09127DE7}" type="sibTrans" cxnId="{0E5563D9-05F4-47ED-AEC4-5F74FA52F6B8}">
      <dgm:prSet/>
      <dgm:spPr/>
      <dgm:t>
        <a:bodyPr/>
        <a:lstStyle/>
        <a:p>
          <a:endParaRPr lang="en-US"/>
        </a:p>
      </dgm:t>
    </dgm:pt>
    <dgm:pt modelId="{D117E825-6801-4951-9FDF-2882622D782B}">
      <dgm:prSet/>
      <dgm:spPr/>
      <dgm:t>
        <a:bodyPr/>
        <a:lstStyle/>
        <a:p>
          <a:r>
            <a:rPr lang="fr-FR"/>
            <a:t>Fiscal Year</a:t>
          </a:r>
          <a:endParaRPr lang="en-US"/>
        </a:p>
      </dgm:t>
    </dgm:pt>
    <dgm:pt modelId="{184AE0DD-3796-460A-BA01-8D29E8FC2A26}" type="parTrans" cxnId="{778E25FB-D99D-40F5-8224-EAABDD8D9C52}">
      <dgm:prSet/>
      <dgm:spPr/>
      <dgm:t>
        <a:bodyPr/>
        <a:lstStyle/>
        <a:p>
          <a:endParaRPr lang="en-US"/>
        </a:p>
      </dgm:t>
    </dgm:pt>
    <dgm:pt modelId="{181FD088-4C27-40B3-870C-CC596D16DA10}" type="sibTrans" cxnId="{778E25FB-D99D-40F5-8224-EAABDD8D9C52}">
      <dgm:prSet/>
      <dgm:spPr/>
      <dgm:t>
        <a:bodyPr/>
        <a:lstStyle/>
        <a:p>
          <a:endParaRPr lang="en-US"/>
        </a:p>
      </dgm:t>
    </dgm:pt>
    <dgm:pt modelId="{CB4A3E88-799B-4E97-9146-0B12147D5FD4}">
      <dgm:prSet/>
      <dgm:spPr/>
      <dgm:t>
        <a:bodyPr/>
        <a:lstStyle/>
        <a:p>
          <a:r>
            <a:rPr lang="fr-FR"/>
            <a:t>Grantor (agency)</a:t>
          </a:r>
          <a:endParaRPr lang="en-US"/>
        </a:p>
      </dgm:t>
    </dgm:pt>
    <dgm:pt modelId="{FFF166D5-CD73-4D7B-8935-7941C62EDA2C}" type="parTrans" cxnId="{AC1D6221-4531-4D0F-9180-212B03D90FDA}">
      <dgm:prSet/>
      <dgm:spPr/>
      <dgm:t>
        <a:bodyPr/>
        <a:lstStyle/>
        <a:p>
          <a:endParaRPr lang="en-US"/>
        </a:p>
      </dgm:t>
    </dgm:pt>
    <dgm:pt modelId="{EEDB6BC5-C111-439B-9C1C-0E7ECF6D2047}" type="sibTrans" cxnId="{AC1D6221-4531-4D0F-9180-212B03D90FDA}">
      <dgm:prSet/>
      <dgm:spPr/>
      <dgm:t>
        <a:bodyPr/>
        <a:lstStyle/>
        <a:p>
          <a:endParaRPr lang="en-US"/>
        </a:p>
      </dgm:t>
    </dgm:pt>
    <dgm:pt modelId="{653D698C-59C9-49EC-BAE7-BFD85C857674}">
      <dgm:prSet/>
      <dgm:spPr/>
      <dgm:t>
        <a:bodyPr/>
        <a:lstStyle/>
        <a:p>
          <a:r>
            <a:rPr lang="fr-FR"/>
            <a:t>Grantee</a:t>
          </a:r>
          <a:endParaRPr lang="en-US"/>
        </a:p>
      </dgm:t>
    </dgm:pt>
    <dgm:pt modelId="{5B4E81D4-9B19-465A-8AA0-3E35CB7AA115}" type="parTrans" cxnId="{75EFD2B0-542B-49EF-A25A-8565F43863BB}">
      <dgm:prSet/>
      <dgm:spPr/>
      <dgm:t>
        <a:bodyPr/>
        <a:lstStyle/>
        <a:p>
          <a:endParaRPr lang="en-US"/>
        </a:p>
      </dgm:t>
    </dgm:pt>
    <dgm:pt modelId="{9E98D7FA-7066-4411-984E-D181DD55E2AA}" type="sibTrans" cxnId="{75EFD2B0-542B-49EF-A25A-8565F43863BB}">
      <dgm:prSet/>
      <dgm:spPr/>
      <dgm:t>
        <a:bodyPr/>
        <a:lstStyle/>
        <a:p>
          <a:endParaRPr lang="en-US"/>
        </a:p>
      </dgm:t>
    </dgm:pt>
    <dgm:pt modelId="{9DB8AC6F-FE14-4423-BE5E-8E4830E054F5}">
      <dgm:prSet/>
      <dgm:spPr/>
      <dgm:t>
        <a:bodyPr/>
        <a:lstStyle/>
        <a:p>
          <a:r>
            <a:rPr lang="fr-FR"/>
            <a:t>Amount</a:t>
          </a:r>
          <a:endParaRPr lang="en-US"/>
        </a:p>
      </dgm:t>
    </dgm:pt>
    <dgm:pt modelId="{BC0751A6-DAA6-485D-99F8-E5C3BB772AEE}" type="parTrans" cxnId="{8482E4A9-EB96-46D8-92DF-84F81EF9118E}">
      <dgm:prSet/>
      <dgm:spPr/>
      <dgm:t>
        <a:bodyPr/>
        <a:lstStyle/>
        <a:p>
          <a:endParaRPr lang="en-US"/>
        </a:p>
      </dgm:t>
    </dgm:pt>
    <dgm:pt modelId="{D7E9116D-7F02-44E5-B746-8D786BB9F864}" type="sibTrans" cxnId="{8482E4A9-EB96-46D8-92DF-84F81EF9118E}">
      <dgm:prSet/>
      <dgm:spPr/>
      <dgm:t>
        <a:bodyPr/>
        <a:lstStyle/>
        <a:p>
          <a:endParaRPr lang="en-US"/>
        </a:p>
      </dgm:t>
    </dgm:pt>
    <dgm:pt modelId="{B322391B-A9F0-44E2-B19B-DB9BC7EDFE31}">
      <dgm:prSet/>
      <dgm:spPr/>
      <dgm:t>
        <a:bodyPr/>
        <a:lstStyle/>
        <a:p>
          <a:r>
            <a:rPr lang="fr-FR"/>
            <a:t>Zip Code</a:t>
          </a:r>
          <a:endParaRPr lang="en-US"/>
        </a:p>
      </dgm:t>
    </dgm:pt>
    <dgm:pt modelId="{79D102C3-2417-42A3-AAC9-D0A7FA4F5D68}" type="parTrans" cxnId="{A67469F3-762F-47B5-AEA3-B02A75CE083B}">
      <dgm:prSet/>
      <dgm:spPr/>
      <dgm:t>
        <a:bodyPr/>
        <a:lstStyle/>
        <a:p>
          <a:endParaRPr lang="en-US"/>
        </a:p>
      </dgm:t>
    </dgm:pt>
    <dgm:pt modelId="{04D9ABB8-BF30-4796-B60D-F44B53CCBBE4}" type="sibTrans" cxnId="{A67469F3-762F-47B5-AEA3-B02A75CE083B}">
      <dgm:prSet/>
      <dgm:spPr/>
      <dgm:t>
        <a:bodyPr/>
        <a:lstStyle/>
        <a:p>
          <a:endParaRPr lang="en-US"/>
        </a:p>
      </dgm:t>
    </dgm:pt>
    <dgm:pt modelId="{8896BBBE-3568-4A5C-8674-D4A01C4ACF54}">
      <dgm:prSet/>
      <dgm:spPr/>
      <dgm:t>
        <a:bodyPr/>
        <a:lstStyle/>
        <a:p>
          <a:r>
            <a:rPr lang="fr-FR"/>
            <a:t>Category (Grant vs Loan)</a:t>
          </a:r>
          <a:endParaRPr lang="en-US"/>
        </a:p>
      </dgm:t>
    </dgm:pt>
    <dgm:pt modelId="{A0987A84-1187-4882-8357-C34324FD0C51}" type="parTrans" cxnId="{3879E2B7-890F-4824-BF81-670521BC0C9E}">
      <dgm:prSet/>
      <dgm:spPr/>
      <dgm:t>
        <a:bodyPr/>
        <a:lstStyle/>
        <a:p>
          <a:endParaRPr lang="en-US"/>
        </a:p>
      </dgm:t>
    </dgm:pt>
    <dgm:pt modelId="{A66383E2-D591-459E-AA8E-4BA846EB01F3}" type="sibTrans" cxnId="{3879E2B7-890F-4824-BF81-670521BC0C9E}">
      <dgm:prSet/>
      <dgm:spPr/>
      <dgm:t>
        <a:bodyPr/>
        <a:lstStyle/>
        <a:p>
          <a:endParaRPr lang="en-US"/>
        </a:p>
      </dgm:t>
    </dgm:pt>
    <dgm:pt modelId="{1E00CCF1-B1FD-4115-BBF8-0D072F67EB58}">
      <dgm:prSet/>
      <dgm:spPr/>
      <dgm:t>
        <a:bodyPr/>
        <a:lstStyle/>
        <a:p>
          <a:r>
            <a:rPr lang="fr-FR" b="1"/>
            <a:t>What to say:</a:t>
          </a:r>
          <a:br>
            <a:rPr lang="fr-FR" b="1"/>
          </a:br>
          <a:r>
            <a:rPr lang="fr-FR" b="1"/>
            <a:t> “The dataset contains over 15 years of state aid records, focusing on large financial awards. It allows us to analyze trends across agencies, recipients, and geographic areas.”</a:t>
          </a:r>
          <a:endParaRPr lang="en-US"/>
        </a:p>
      </dgm:t>
    </dgm:pt>
    <dgm:pt modelId="{C22CB79F-4AA4-4779-8AE6-6BBF111C90AD}" type="parTrans" cxnId="{7395A968-1E61-48A8-8A33-31352D64EC02}">
      <dgm:prSet/>
      <dgm:spPr/>
      <dgm:t>
        <a:bodyPr/>
        <a:lstStyle/>
        <a:p>
          <a:endParaRPr lang="en-US"/>
        </a:p>
      </dgm:t>
    </dgm:pt>
    <dgm:pt modelId="{7815AA6E-8316-49D3-A44A-FAC819CA5E61}" type="sibTrans" cxnId="{7395A968-1E61-48A8-8A33-31352D64EC02}">
      <dgm:prSet/>
      <dgm:spPr/>
      <dgm:t>
        <a:bodyPr/>
        <a:lstStyle/>
        <a:p>
          <a:endParaRPr lang="en-US"/>
        </a:p>
      </dgm:t>
    </dgm:pt>
    <dgm:pt modelId="{C82E6307-EAA8-42A3-9272-51C2D98C47D9}" type="pres">
      <dgm:prSet presAssocID="{7F5D74CD-5766-4973-88C9-EF09439E3285}" presName="root" presStyleCnt="0">
        <dgm:presLayoutVars>
          <dgm:dir/>
          <dgm:resizeHandles val="exact"/>
        </dgm:presLayoutVars>
      </dgm:prSet>
      <dgm:spPr/>
    </dgm:pt>
    <dgm:pt modelId="{8BE1DA06-E3C0-47B7-B005-521AF0248407}" type="pres">
      <dgm:prSet presAssocID="{8DED02A3-1398-46F2-921A-D27DE6F121DC}" presName="compNode" presStyleCnt="0"/>
      <dgm:spPr/>
    </dgm:pt>
    <dgm:pt modelId="{5B525ABD-386E-4E8A-AB55-C4FAFE1E02B0}" type="pres">
      <dgm:prSet presAssocID="{8DED02A3-1398-46F2-921A-D27DE6F121DC}" presName="bgRect" presStyleLbl="bgShp" presStyleIdx="0" presStyleCnt="4"/>
      <dgm:spPr/>
    </dgm:pt>
    <dgm:pt modelId="{62B60B04-3A75-4C62-9633-90976FFE41A1}" type="pres">
      <dgm:prSet presAssocID="{8DED02A3-1398-46F2-921A-D27DE6F121D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Écran"/>
        </a:ext>
      </dgm:extLst>
    </dgm:pt>
    <dgm:pt modelId="{C7D1D0ED-9CB9-4C2F-BC31-FA1C7810118D}" type="pres">
      <dgm:prSet presAssocID="{8DED02A3-1398-46F2-921A-D27DE6F121DC}" presName="spaceRect" presStyleCnt="0"/>
      <dgm:spPr/>
    </dgm:pt>
    <dgm:pt modelId="{EAC15439-9ECE-4412-BEB6-1261A57B22C9}" type="pres">
      <dgm:prSet presAssocID="{8DED02A3-1398-46F2-921A-D27DE6F121DC}" presName="parTx" presStyleLbl="revTx" presStyleIdx="0" presStyleCnt="5">
        <dgm:presLayoutVars>
          <dgm:chMax val="0"/>
          <dgm:chPref val="0"/>
        </dgm:presLayoutVars>
      </dgm:prSet>
      <dgm:spPr/>
    </dgm:pt>
    <dgm:pt modelId="{4E4F122F-2227-4802-8E40-F35A628F5BB0}" type="pres">
      <dgm:prSet presAssocID="{EEFCE5DE-E6A4-4EDF-B101-DEB96C10ADE1}" presName="sibTrans" presStyleCnt="0"/>
      <dgm:spPr/>
    </dgm:pt>
    <dgm:pt modelId="{D55C823E-088F-471E-8B9E-910A99127605}" type="pres">
      <dgm:prSet presAssocID="{BEFC2F50-AF63-42DD-8694-05A2F7C89522}" presName="compNode" presStyleCnt="0"/>
      <dgm:spPr/>
    </dgm:pt>
    <dgm:pt modelId="{F5A01778-B729-4019-B5A9-1C56C028A259}" type="pres">
      <dgm:prSet presAssocID="{BEFC2F50-AF63-42DD-8694-05A2F7C89522}" presName="bgRect" presStyleLbl="bgShp" presStyleIdx="1" presStyleCnt="4"/>
      <dgm:spPr/>
    </dgm:pt>
    <dgm:pt modelId="{7D944D97-C64B-49E9-948C-221A9C820932}" type="pres">
      <dgm:prSet presAssocID="{BEFC2F50-AF63-42DD-8694-05A2F7C8952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blier terminé"/>
        </a:ext>
      </dgm:extLst>
    </dgm:pt>
    <dgm:pt modelId="{85D7F54F-7E61-44D7-9E25-42226D3D3E6F}" type="pres">
      <dgm:prSet presAssocID="{BEFC2F50-AF63-42DD-8694-05A2F7C89522}" presName="spaceRect" presStyleCnt="0"/>
      <dgm:spPr/>
    </dgm:pt>
    <dgm:pt modelId="{216A1236-F786-4B36-AF0C-6532A6B77F0F}" type="pres">
      <dgm:prSet presAssocID="{BEFC2F50-AF63-42DD-8694-05A2F7C89522}" presName="parTx" presStyleLbl="revTx" presStyleIdx="1" presStyleCnt="5">
        <dgm:presLayoutVars>
          <dgm:chMax val="0"/>
          <dgm:chPref val="0"/>
        </dgm:presLayoutVars>
      </dgm:prSet>
      <dgm:spPr/>
    </dgm:pt>
    <dgm:pt modelId="{E2C9FD53-03CF-4958-B89A-6CEF44A4684A}" type="pres">
      <dgm:prSet presAssocID="{280A603A-A701-4204-A485-E12AC426FB6C}" presName="sibTrans" presStyleCnt="0"/>
      <dgm:spPr/>
    </dgm:pt>
    <dgm:pt modelId="{E42646C9-B489-41B5-93CC-E4166A2959C4}" type="pres">
      <dgm:prSet presAssocID="{36989D22-20D2-4872-AA6F-B5B73B5F3547}" presName="compNode" presStyleCnt="0"/>
      <dgm:spPr/>
    </dgm:pt>
    <dgm:pt modelId="{67F533A9-6381-4E4A-B50F-4DA3D882AFEE}" type="pres">
      <dgm:prSet presAssocID="{36989D22-20D2-4872-AA6F-B5B73B5F3547}" presName="bgRect" presStyleLbl="bgShp" presStyleIdx="2" presStyleCnt="4"/>
      <dgm:spPr/>
    </dgm:pt>
    <dgm:pt modelId="{D3FA6D79-8DA3-4851-81C5-42EC320D2F52}" type="pres">
      <dgm:prSet presAssocID="{36989D22-20D2-4872-AA6F-B5B73B5F354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gent"/>
        </a:ext>
      </dgm:extLst>
    </dgm:pt>
    <dgm:pt modelId="{3144C624-F52D-4D66-A8B4-87AAEA143EA8}" type="pres">
      <dgm:prSet presAssocID="{36989D22-20D2-4872-AA6F-B5B73B5F3547}" presName="spaceRect" presStyleCnt="0"/>
      <dgm:spPr/>
    </dgm:pt>
    <dgm:pt modelId="{23ACA903-F7CD-47AA-8EB5-4699530D6487}" type="pres">
      <dgm:prSet presAssocID="{36989D22-20D2-4872-AA6F-B5B73B5F3547}" presName="parTx" presStyleLbl="revTx" presStyleIdx="2" presStyleCnt="5">
        <dgm:presLayoutVars>
          <dgm:chMax val="0"/>
          <dgm:chPref val="0"/>
        </dgm:presLayoutVars>
      </dgm:prSet>
      <dgm:spPr/>
    </dgm:pt>
    <dgm:pt modelId="{2A9A3857-0CFF-4DDB-86C8-59FF0ABCE03A}" type="pres">
      <dgm:prSet presAssocID="{55A8569A-9738-469A-829F-3E3DC8C8F0B1}" presName="sibTrans" presStyleCnt="0"/>
      <dgm:spPr/>
    </dgm:pt>
    <dgm:pt modelId="{2C736F23-E305-47CA-B39F-AE77E76F87A5}" type="pres">
      <dgm:prSet presAssocID="{ED789CCB-5CD5-4E1A-A31D-EF55F2AA46A9}" presName="compNode" presStyleCnt="0"/>
      <dgm:spPr/>
    </dgm:pt>
    <dgm:pt modelId="{304351EF-72CC-4B25-82DB-8F3C10677520}" type="pres">
      <dgm:prSet presAssocID="{ED789CCB-5CD5-4E1A-A31D-EF55F2AA46A9}" presName="bgRect" presStyleLbl="bgShp" presStyleIdx="3" presStyleCnt="4"/>
      <dgm:spPr/>
    </dgm:pt>
    <dgm:pt modelId="{5097680A-8DDA-4A81-B239-B062F9344C08}" type="pres">
      <dgm:prSet presAssocID="{ED789CCB-5CD5-4E1A-A31D-EF55F2AA46A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2742AD1F-D068-4325-BEAB-177321B29E22}" type="pres">
      <dgm:prSet presAssocID="{ED789CCB-5CD5-4E1A-A31D-EF55F2AA46A9}" presName="spaceRect" presStyleCnt="0"/>
      <dgm:spPr/>
    </dgm:pt>
    <dgm:pt modelId="{FA84DB30-FA17-49CE-8FD6-3B0D69DE5AE7}" type="pres">
      <dgm:prSet presAssocID="{ED789CCB-5CD5-4E1A-A31D-EF55F2AA46A9}" presName="parTx" presStyleLbl="revTx" presStyleIdx="3" presStyleCnt="5">
        <dgm:presLayoutVars>
          <dgm:chMax val="0"/>
          <dgm:chPref val="0"/>
        </dgm:presLayoutVars>
      </dgm:prSet>
      <dgm:spPr/>
    </dgm:pt>
    <dgm:pt modelId="{3734E48E-26DA-4D92-863B-20EA3B710CCC}" type="pres">
      <dgm:prSet presAssocID="{ED789CCB-5CD5-4E1A-A31D-EF55F2AA46A9}" presName="desTx" presStyleLbl="revTx" presStyleIdx="4" presStyleCnt="5">
        <dgm:presLayoutVars/>
      </dgm:prSet>
      <dgm:spPr/>
    </dgm:pt>
  </dgm:ptLst>
  <dgm:cxnLst>
    <dgm:cxn modelId="{3AA03302-2CB7-4392-A89E-D1F5871C1073}" type="presOf" srcId="{CB4A3E88-799B-4E97-9146-0B12147D5FD4}" destId="{3734E48E-26DA-4D92-863B-20EA3B710CCC}" srcOrd="0" destOrd="1" presId="urn:microsoft.com/office/officeart/2018/2/layout/IconVerticalSolidList"/>
    <dgm:cxn modelId="{F4DE8C03-B669-460D-9BEF-CFD069CEFE31}" type="presOf" srcId="{8896BBBE-3568-4A5C-8674-D4A01C4ACF54}" destId="{3734E48E-26DA-4D92-863B-20EA3B710CCC}" srcOrd="0" destOrd="5" presId="urn:microsoft.com/office/officeart/2018/2/layout/IconVerticalSolidList"/>
    <dgm:cxn modelId="{42675B14-F471-4E68-AC30-7D111798711A}" type="presOf" srcId="{1E00CCF1-B1FD-4115-BBF8-0D072F67EB58}" destId="{3734E48E-26DA-4D92-863B-20EA3B710CCC}" srcOrd="0" destOrd="6" presId="urn:microsoft.com/office/officeart/2018/2/layout/IconVerticalSolidList"/>
    <dgm:cxn modelId="{814CA41F-55E6-44CA-9F3E-C2266EA26BD4}" type="presOf" srcId="{9DB8AC6F-FE14-4423-BE5E-8E4830E054F5}" destId="{3734E48E-26DA-4D92-863B-20EA3B710CCC}" srcOrd="0" destOrd="3" presId="urn:microsoft.com/office/officeart/2018/2/layout/IconVerticalSolidList"/>
    <dgm:cxn modelId="{AC1D6221-4531-4D0F-9180-212B03D90FDA}" srcId="{ED789CCB-5CD5-4E1A-A31D-EF55F2AA46A9}" destId="{CB4A3E88-799B-4E97-9146-0B12147D5FD4}" srcOrd="1" destOrd="0" parTransId="{FFF166D5-CD73-4D7B-8935-7941C62EDA2C}" sibTransId="{EEDB6BC5-C111-439B-9C1C-0E7ECF6D2047}"/>
    <dgm:cxn modelId="{3ADF4A21-CBFA-4061-9F19-B4B7F2138973}" srcId="{7F5D74CD-5766-4973-88C9-EF09439E3285}" destId="{BEFC2F50-AF63-42DD-8694-05A2F7C89522}" srcOrd="1" destOrd="0" parTransId="{0518DF8B-EB07-4510-9CAE-281B0EA3E65A}" sibTransId="{280A603A-A701-4204-A485-E12AC426FB6C}"/>
    <dgm:cxn modelId="{7A5F5B37-DA24-4CB4-A43D-2CCC09BA2F0B}" type="presOf" srcId="{BEFC2F50-AF63-42DD-8694-05A2F7C89522}" destId="{216A1236-F786-4B36-AF0C-6532A6B77F0F}" srcOrd="0" destOrd="0" presId="urn:microsoft.com/office/officeart/2018/2/layout/IconVerticalSolidList"/>
    <dgm:cxn modelId="{AE97DA3F-8EEC-4116-A665-459D48A30E24}" srcId="{7F5D74CD-5766-4973-88C9-EF09439E3285}" destId="{8DED02A3-1398-46F2-921A-D27DE6F121DC}" srcOrd="0" destOrd="0" parTransId="{E50CF0F1-8691-4322-96D9-ABB32666DD22}" sibTransId="{EEFCE5DE-E6A4-4EDF-B101-DEB96C10ADE1}"/>
    <dgm:cxn modelId="{7395A968-1E61-48A8-8A33-31352D64EC02}" srcId="{ED789CCB-5CD5-4E1A-A31D-EF55F2AA46A9}" destId="{1E00CCF1-B1FD-4115-BBF8-0D072F67EB58}" srcOrd="6" destOrd="0" parTransId="{C22CB79F-4AA4-4779-8AE6-6BBF111C90AD}" sibTransId="{7815AA6E-8316-49D3-A44A-FAC819CA5E61}"/>
    <dgm:cxn modelId="{B8F03B54-135F-42C3-A46D-009213EE91D0}" type="presOf" srcId="{653D698C-59C9-49EC-BAE7-BFD85C857674}" destId="{3734E48E-26DA-4D92-863B-20EA3B710CCC}" srcOrd="0" destOrd="2" presId="urn:microsoft.com/office/officeart/2018/2/layout/IconVerticalSolidList"/>
    <dgm:cxn modelId="{56B1A558-EE58-47E5-9496-9CD19900F07C}" srcId="{7F5D74CD-5766-4973-88C9-EF09439E3285}" destId="{36989D22-20D2-4872-AA6F-B5B73B5F3547}" srcOrd="2" destOrd="0" parTransId="{76C1610A-BF57-46E7-A2C6-0D031B6EAA15}" sibTransId="{55A8569A-9738-469A-829F-3E3DC8C8F0B1}"/>
    <dgm:cxn modelId="{DD7CBE7F-AF79-4D61-971C-7BA74F1C2008}" type="presOf" srcId="{7F5D74CD-5766-4973-88C9-EF09439E3285}" destId="{C82E6307-EAA8-42A3-9272-51C2D98C47D9}" srcOrd="0" destOrd="0" presId="urn:microsoft.com/office/officeart/2018/2/layout/IconVerticalSolidList"/>
    <dgm:cxn modelId="{EACE4180-D683-495B-AA64-7D53A4474857}" type="presOf" srcId="{36989D22-20D2-4872-AA6F-B5B73B5F3547}" destId="{23ACA903-F7CD-47AA-8EB5-4699530D6487}" srcOrd="0" destOrd="0" presId="urn:microsoft.com/office/officeart/2018/2/layout/IconVerticalSolidList"/>
    <dgm:cxn modelId="{07D5DB87-5686-4722-8BEC-3CB229928179}" type="presOf" srcId="{ED789CCB-5CD5-4E1A-A31D-EF55F2AA46A9}" destId="{FA84DB30-FA17-49CE-8FD6-3B0D69DE5AE7}" srcOrd="0" destOrd="0" presId="urn:microsoft.com/office/officeart/2018/2/layout/IconVerticalSolidList"/>
    <dgm:cxn modelId="{4296DD93-EC73-4B91-AA77-AD7E5858EBD7}" type="presOf" srcId="{B322391B-A9F0-44E2-B19B-DB9BC7EDFE31}" destId="{3734E48E-26DA-4D92-863B-20EA3B710CCC}" srcOrd="0" destOrd="4" presId="urn:microsoft.com/office/officeart/2018/2/layout/IconVerticalSolidList"/>
    <dgm:cxn modelId="{8482E4A9-EB96-46D8-92DF-84F81EF9118E}" srcId="{ED789CCB-5CD5-4E1A-A31D-EF55F2AA46A9}" destId="{9DB8AC6F-FE14-4423-BE5E-8E4830E054F5}" srcOrd="3" destOrd="0" parTransId="{BC0751A6-DAA6-485D-99F8-E5C3BB772AEE}" sibTransId="{D7E9116D-7F02-44E5-B746-8D786BB9F864}"/>
    <dgm:cxn modelId="{75EFD2B0-542B-49EF-A25A-8565F43863BB}" srcId="{ED789CCB-5CD5-4E1A-A31D-EF55F2AA46A9}" destId="{653D698C-59C9-49EC-BAE7-BFD85C857674}" srcOrd="2" destOrd="0" parTransId="{5B4E81D4-9B19-465A-8AA0-3E35CB7AA115}" sibTransId="{9E98D7FA-7066-4411-984E-D181DD55E2AA}"/>
    <dgm:cxn modelId="{3879E2B7-890F-4824-BF81-670521BC0C9E}" srcId="{ED789CCB-5CD5-4E1A-A31D-EF55F2AA46A9}" destId="{8896BBBE-3568-4A5C-8674-D4A01C4ACF54}" srcOrd="5" destOrd="0" parTransId="{A0987A84-1187-4882-8357-C34324FD0C51}" sibTransId="{A66383E2-D591-459E-AA8E-4BA846EB01F3}"/>
    <dgm:cxn modelId="{146F7DC6-26C0-4EAF-A744-EA32FCA10785}" type="presOf" srcId="{8DED02A3-1398-46F2-921A-D27DE6F121DC}" destId="{EAC15439-9ECE-4412-BEB6-1261A57B22C9}" srcOrd="0" destOrd="0" presId="urn:microsoft.com/office/officeart/2018/2/layout/IconVerticalSolidList"/>
    <dgm:cxn modelId="{0E5563D9-05F4-47ED-AEC4-5F74FA52F6B8}" srcId="{7F5D74CD-5766-4973-88C9-EF09439E3285}" destId="{ED789CCB-5CD5-4E1A-A31D-EF55F2AA46A9}" srcOrd="3" destOrd="0" parTransId="{BB7FAF8C-DDA5-43A0-BB51-CAA1C675FE31}" sibTransId="{5E02E2BA-2414-4A4F-A067-FCFC09127DE7}"/>
    <dgm:cxn modelId="{FF3562E8-FA16-43FF-9D69-8AE5C2A38E54}" type="presOf" srcId="{D117E825-6801-4951-9FDF-2882622D782B}" destId="{3734E48E-26DA-4D92-863B-20EA3B710CCC}" srcOrd="0" destOrd="0" presId="urn:microsoft.com/office/officeart/2018/2/layout/IconVerticalSolidList"/>
    <dgm:cxn modelId="{A67469F3-762F-47B5-AEA3-B02A75CE083B}" srcId="{ED789CCB-5CD5-4E1A-A31D-EF55F2AA46A9}" destId="{B322391B-A9F0-44E2-B19B-DB9BC7EDFE31}" srcOrd="4" destOrd="0" parTransId="{79D102C3-2417-42A3-AAC9-D0A7FA4F5D68}" sibTransId="{04D9ABB8-BF30-4796-B60D-F44B53CCBBE4}"/>
    <dgm:cxn modelId="{778E25FB-D99D-40F5-8224-EAABDD8D9C52}" srcId="{ED789CCB-5CD5-4E1A-A31D-EF55F2AA46A9}" destId="{D117E825-6801-4951-9FDF-2882622D782B}" srcOrd="0" destOrd="0" parTransId="{184AE0DD-3796-460A-BA01-8D29E8FC2A26}" sibTransId="{181FD088-4C27-40B3-870C-CC596D16DA10}"/>
    <dgm:cxn modelId="{9690E673-D5FB-499A-B017-2554203FE839}" type="presParOf" srcId="{C82E6307-EAA8-42A3-9272-51C2D98C47D9}" destId="{8BE1DA06-E3C0-47B7-B005-521AF0248407}" srcOrd="0" destOrd="0" presId="urn:microsoft.com/office/officeart/2018/2/layout/IconVerticalSolidList"/>
    <dgm:cxn modelId="{627624C3-25AC-47CA-96F9-373A5B0DD5F3}" type="presParOf" srcId="{8BE1DA06-E3C0-47B7-B005-521AF0248407}" destId="{5B525ABD-386E-4E8A-AB55-C4FAFE1E02B0}" srcOrd="0" destOrd="0" presId="urn:microsoft.com/office/officeart/2018/2/layout/IconVerticalSolidList"/>
    <dgm:cxn modelId="{5BA02131-23B5-474B-ABA8-C81982BF708D}" type="presParOf" srcId="{8BE1DA06-E3C0-47B7-B005-521AF0248407}" destId="{62B60B04-3A75-4C62-9633-90976FFE41A1}" srcOrd="1" destOrd="0" presId="urn:microsoft.com/office/officeart/2018/2/layout/IconVerticalSolidList"/>
    <dgm:cxn modelId="{F82D4549-0D56-4B10-BB01-EA10D3509BC8}" type="presParOf" srcId="{8BE1DA06-E3C0-47B7-B005-521AF0248407}" destId="{C7D1D0ED-9CB9-4C2F-BC31-FA1C7810118D}" srcOrd="2" destOrd="0" presId="urn:microsoft.com/office/officeart/2018/2/layout/IconVerticalSolidList"/>
    <dgm:cxn modelId="{BEDCEB00-7B58-4AB3-A562-CAF001667EFF}" type="presParOf" srcId="{8BE1DA06-E3C0-47B7-B005-521AF0248407}" destId="{EAC15439-9ECE-4412-BEB6-1261A57B22C9}" srcOrd="3" destOrd="0" presId="urn:microsoft.com/office/officeart/2018/2/layout/IconVerticalSolidList"/>
    <dgm:cxn modelId="{6701377F-00C4-49C0-9F72-537A1A27F579}" type="presParOf" srcId="{C82E6307-EAA8-42A3-9272-51C2D98C47D9}" destId="{4E4F122F-2227-4802-8E40-F35A628F5BB0}" srcOrd="1" destOrd="0" presId="urn:microsoft.com/office/officeart/2018/2/layout/IconVerticalSolidList"/>
    <dgm:cxn modelId="{49148E53-58A9-4A93-80DF-A5F916918427}" type="presParOf" srcId="{C82E6307-EAA8-42A3-9272-51C2D98C47D9}" destId="{D55C823E-088F-471E-8B9E-910A99127605}" srcOrd="2" destOrd="0" presId="urn:microsoft.com/office/officeart/2018/2/layout/IconVerticalSolidList"/>
    <dgm:cxn modelId="{53714AC6-D6E8-42E1-8DBF-65A4FDB819E0}" type="presParOf" srcId="{D55C823E-088F-471E-8B9E-910A99127605}" destId="{F5A01778-B729-4019-B5A9-1C56C028A259}" srcOrd="0" destOrd="0" presId="urn:microsoft.com/office/officeart/2018/2/layout/IconVerticalSolidList"/>
    <dgm:cxn modelId="{8A60E3F9-F730-4759-B0D7-61BC8A4145D9}" type="presParOf" srcId="{D55C823E-088F-471E-8B9E-910A99127605}" destId="{7D944D97-C64B-49E9-948C-221A9C820932}" srcOrd="1" destOrd="0" presId="urn:microsoft.com/office/officeart/2018/2/layout/IconVerticalSolidList"/>
    <dgm:cxn modelId="{894F9F2A-482B-4BE4-8DC4-645FF1F180E1}" type="presParOf" srcId="{D55C823E-088F-471E-8B9E-910A99127605}" destId="{85D7F54F-7E61-44D7-9E25-42226D3D3E6F}" srcOrd="2" destOrd="0" presId="urn:microsoft.com/office/officeart/2018/2/layout/IconVerticalSolidList"/>
    <dgm:cxn modelId="{D505F099-FECB-4070-BEA8-F1174F1713A0}" type="presParOf" srcId="{D55C823E-088F-471E-8B9E-910A99127605}" destId="{216A1236-F786-4B36-AF0C-6532A6B77F0F}" srcOrd="3" destOrd="0" presId="urn:microsoft.com/office/officeart/2018/2/layout/IconVerticalSolidList"/>
    <dgm:cxn modelId="{357B48C8-B046-493F-B878-E20FF3FF76F7}" type="presParOf" srcId="{C82E6307-EAA8-42A3-9272-51C2D98C47D9}" destId="{E2C9FD53-03CF-4958-B89A-6CEF44A4684A}" srcOrd="3" destOrd="0" presId="urn:microsoft.com/office/officeart/2018/2/layout/IconVerticalSolidList"/>
    <dgm:cxn modelId="{F3DE895A-C54C-494B-809E-E66BD7CBDB34}" type="presParOf" srcId="{C82E6307-EAA8-42A3-9272-51C2D98C47D9}" destId="{E42646C9-B489-41B5-93CC-E4166A2959C4}" srcOrd="4" destOrd="0" presId="urn:microsoft.com/office/officeart/2018/2/layout/IconVerticalSolidList"/>
    <dgm:cxn modelId="{7A0DDB64-9F18-4D8A-A8FE-8B7719C7F40D}" type="presParOf" srcId="{E42646C9-B489-41B5-93CC-E4166A2959C4}" destId="{67F533A9-6381-4E4A-B50F-4DA3D882AFEE}" srcOrd="0" destOrd="0" presId="urn:microsoft.com/office/officeart/2018/2/layout/IconVerticalSolidList"/>
    <dgm:cxn modelId="{411E7B3D-3AA7-4360-9BEA-EEA09EC8AC28}" type="presParOf" srcId="{E42646C9-B489-41B5-93CC-E4166A2959C4}" destId="{D3FA6D79-8DA3-4851-81C5-42EC320D2F52}" srcOrd="1" destOrd="0" presId="urn:microsoft.com/office/officeart/2018/2/layout/IconVerticalSolidList"/>
    <dgm:cxn modelId="{CC7B790D-C505-4051-9EBC-B8698FC13292}" type="presParOf" srcId="{E42646C9-B489-41B5-93CC-E4166A2959C4}" destId="{3144C624-F52D-4D66-A8B4-87AAEA143EA8}" srcOrd="2" destOrd="0" presId="urn:microsoft.com/office/officeart/2018/2/layout/IconVerticalSolidList"/>
    <dgm:cxn modelId="{7413C34B-B78B-4907-9DC5-9D02382C98D4}" type="presParOf" srcId="{E42646C9-B489-41B5-93CC-E4166A2959C4}" destId="{23ACA903-F7CD-47AA-8EB5-4699530D6487}" srcOrd="3" destOrd="0" presId="urn:microsoft.com/office/officeart/2018/2/layout/IconVerticalSolidList"/>
    <dgm:cxn modelId="{A61957CC-BA28-4177-93CB-5B7FA60E826E}" type="presParOf" srcId="{C82E6307-EAA8-42A3-9272-51C2D98C47D9}" destId="{2A9A3857-0CFF-4DDB-86C8-59FF0ABCE03A}" srcOrd="5" destOrd="0" presId="urn:microsoft.com/office/officeart/2018/2/layout/IconVerticalSolidList"/>
    <dgm:cxn modelId="{8BA96A36-329E-4FD2-BB15-A77B36C6996E}" type="presParOf" srcId="{C82E6307-EAA8-42A3-9272-51C2D98C47D9}" destId="{2C736F23-E305-47CA-B39F-AE77E76F87A5}" srcOrd="6" destOrd="0" presId="urn:microsoft.com/office/officeart/2018/2/layout/IconVerticalSolidList"/>
    <dgm:cxn modelId="{38526866-FB1B-418B-8B91-05BF14F56B61}" type="presParOf" srcId="{2C736F23-E305-47CA-B39F-AE77E76F87A5}" destId="{304351EF-72CC-4B25-82DB-8F3C10677520}" srcOrd="0" destOrd="0" presId="urn:microsoft.com/office/officeart/2018/2/layout/IconVerticalSolidList"/>
    <dgm:cxn modelId="{FCE3B6A0-6B40-4CA1-9244-6FEB0306D827}" type="presParOf" srcId="{2C736F23-E305-47CA-B39F-AE77E76F87A5}" destId="{5097680A-8DDA-4A81-B239-B062F9344C08}" srcOrd="1" destOrd="0" presId="urn:microsoft.com/office/officeart/2018/2/layout/IconVerticalSolidList"/>
    <dgm:cxn modelId="{C8223BB8-4191-4D4C-A9B6-6C6B777082A6}" type="presParOf" srcId="{2C736F23-E305-47CA-B39F-AE77E76F87A5}" destId="{2742AD1F-D068-4325-BEAB-177321B29E22}" srcOrd="2" destOrd="0" presId="urn:microsoft.com/office/officeart/2018/2/layout/IconVerticalSolidList"/>
    <dgm:cxn modelId="{1DE6D28E-227D-4963-B800-70018CD6D505}" type="presParOf" srcId="{2C736F23-E305-47CA-B39F-AE77E76F87A5}" destId="{FA84DB30-FA17-49CE-8FD6-3B0D69DE5AE7}" srcOrd="3" destOrd="0" presId="urn:microsoft.com/office/officeart/2018/2/layout/IconVerticalSolidList"/>
    <dgm:cxn modelId="{D69C3213-9B50-4280-9A73-428BA3F38C31}" type="presParOf" srcId="{2C736F23-E305-47CA-B39F-AE77E76F87A5}" destId="{3734E48E-26DA-4D92-863B-20EA3B710CC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525ABD-386E-4E8A-AB55-C4FAFE1E02B0}">
      <dsp:nvSpPr>
        <dsp:cNvPr id="0" name=""/>
        <dsp:cNvSpPr/>
      </dsp:nvSpPr>
      <dsp:spPr>
        <a:xfrm>
          <a:off x="0" y="4884"/>
          <a:ext cx="5676900" cy="11369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60B04-3A75-4C62-9633-90976FFE41A1}">
      <dsp:nvSpPr>
        <dsp:cNvPr id="0" name=""/>
        <dsp:cNvSpPr/>
      </dsp:nvSpPr>
      <dsp:spPr>
        <a:xfrm>
          <a:off x="343922" y="260694"/>
          <a:ext cx="625312" cy="625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15439-9ECE-4412-BEB6-1261A57B22C9}">
      <dsp:nvSpPr>
        <dsp:cNvPr id="0" name=""/>
        <dsp:cNvSpPr/>
      </dsp:nvSpPr>
      <dsp:spPr>
        <a:xfrm>
          <a:off x="1313157" y="4884"/>
          <a:ext cx="4362459" cy="1136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325" tIns="120325" rIns="120325" bIns="1203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Source: Maryland Open Data Portal</a:t>
          </a:r>
          <a:endParaRPr lang="en-US" sz="2200" kern="1200"/>
        </a:p>
      </dsp:txBody>
      <dsp:txXfrm>
        <a:off x="1313157" y="4884"/>
        <a:ext cx="4362459" cy="1136932"/>
      </dsp:txXfrm>
    </dsp:sp>
    <dsp:sp modelId="{F5A01778-B729-4019-B5A9-1C56C028A259}">
      <dsp:nvSpPr>
        <dsp:cNvPr id="0" name=""/>
        <dsp:cNvSpPr/>
      </dsp:nvSpPr>
      <dsp:spPr>
        <a:xfrm>
          <a:off x="0" y="1426050"/>
          <a:ext cx="5676900" cy="11369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44D97-C64B-49E9-948C-221A9C820932}">
      <dsp:nvSpPr>
        <dsp:cNvPr id="0" name=""/>
        <dsp:cNvSpPr/>
      </dsp:nvSpPr>
      <dsp:spPr>
        <a:xfrm>
          <a:off x="343922" y="1681860"/>
          <a:ext cx="625312" cy="625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A1236-F786-4B36-AF0C-6532A6B77F0F}">
      <dsp:nvSpPr>
        <dsp:cNvPr id="0" name=""/>
        <dsp:cNvSpPr/>
      </dsp:nvSpPr>
      <dsp:spPr>
        <a:xfrm>
          <a:off x="1313157" y="1426050"/>
          <a:ext cx="4362459" cy="1136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325" tIns="120325" rIns="120325" bIns="1203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Time span: 2009–2024</a:t>
          </a:r>
          <a:endParaRPr lang="en-US" sz="2200" kern="1200"/>
        </a:p>
      </dsp:txBody>
      <dsp:txXfrm>
        <a:off x="1313157" y="1426050"/>
        <a:ext cx="4362459" cy="1136932"/>
      </dsp:txXfrm>
    </dsp:sp>
    <dsp:sp modelId="{67F533A9-6381-4E4A-B50F-4DA3D882AFEE}">
      <dsp:nvSpPr>
        <dsp:cNvPr id="0" name=""/>
        <dsp:cNvSpPr/>
      </dsp:nvSpPr>
      <dsp:spPr>
        <a:xfrm>
          <a:off x="0" y="2847216"/>
          <a:ext cx="5676900" cy="11369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FA6D79-8DA3-4851-81C5-42EC320D2F52}">
      <dsp:nvSpPr>
        <dsp:cNvPr id="0" name=""/>
        <dsp:cNvSpPr/>
      </dsp:nvSpPr>
      <dsp:spPr>
        <a:xfrm>
          <a:off x="343922" y="3103026"/>
          <a:ext cx="625312" cy="625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CA903-F7CD-47AA-8EB5-4699530D6487}">
      <dsp:nvSpPr>
        <dsp:cNvPr id="0" name=""/>
        <dsp:cNvSpPr/>
      </dsp:nvSpPr>
      <dsp:spPr>
        <a:xfrm>
          <a:off x="1313157" y="2847216"/>
          <a:ext cx="4362459" cy="1136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325" tIns="120325" rIns="120325" bIns="1203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Includes: Grants &amp; Loans ≥ $50,000</a:t>
          </a:r>
          <a:endParaRPr lang="en-US" sz="2200" kern="1200"/>
        </a:p>
      </dsp:txBody>
      <dsp:txXfrm>
        <a:off x="1313157" y="2847216"/>
        <a:ext cx="4362459" cy="1136932"/>
      </dsp:txXfrm>
    </dsp:sp>
    <dsp:sp modelId="{304351EF-72CC-4B25-82DB-8F3C10677520}">
      <dsp:nvSpPr>
        <dsp:cNvPr id="0" name=""/>
        <dsp:cNvSpPr/>
      </dsp:nvSpPr>
      <dsp:spPr>
        <a:xfrm>
          <a:off x="0" y="4268382"/>
          <a:ext cx="5676900" cy="11369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7680A-8DDA-4A81-B239-B062F9344C08}">
      <dsp:nvSpPr>
        <dsp:cNvPr id="0" name=""/>
        <dsp:cNvSpPr/>
      </dsp:nvSpPr>
      <dsp:spPr>
        <a:xfrm>
          <a:off x="343922" y="4524192"/>
          <a:ext cx="625312" cy="6253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84DB30-FA17-49CE-8FD6-3B0D69DE5AE7}">
      <dsp:nvSpPr>
        <dsp:cNvPr id="0" name=""/>
        <dsp:cNvSpPr/>
      </dsp:nvSpPr>
      <dsp:spPr>
        <a:xfrm>
          <a:off x="1313157" y="4268382"/>
          <a:ext cx="2554605" cy="1136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325" tIns="120325" rIns="120325" bIns="12032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/>
            <a:t>Key variables:</a:t>
          </a:r>
          <a:endParaRPr lang="en-US" sz="2200" kern="1200"/>
        </a:p>
      </dsp:txBody>
      <dsp:txXfrm>
        <a:off x="1313157" y="4268382"/>
        <a:ext cx="2554605" cy="1136932"/>
      </dsp:txXfrm>
    </dsp:sp>
    <dsp:sp modelId="{3734E48E-26DA-4D92-863B-20EA3B710CCC}">
      <dsp:nvSpPr>
        <dsp:cNvPr id="0" name=""/>
        <dsp:cNvSpPr/>
      </dsp:nvSpPr>
      <dsp:spPr>
        <a:xfrm>
          <a:off x="3867762" y="4268382"/>
          <a:ext cx="1807854" cy="1136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325" tIns="120325" rIns="120325" bIns="120325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Fiscal Year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Grantor (agency)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Grantee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Amount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Zip Code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Category (Grant vs Loan)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b="1" kern="1200"/>
            <a:t>What to say:</a:t>
          </a:r>
          <a:br>
            <a:rPr lang="fr-FR" sz="1100" b="1" kern="1200"/>
          </a:br>
          <a:r>
            <a:rPr lang="fr-FR" sz="1100" b="1" kern="1200"/>
            <a:t> “The dataset contains over 15 years of state aid records, focusing on large financial awards. It allows us to analyze trends across agencies, recipients, and geographic areas.”</a:t>
          </a:r>
          <a:endParaRPr lang="en-US" sz="1100" kern="1200"/>
        </a:p>
      </dsp:txBody>
      <dsp:txXfrm>
        <a:off x="3867762" y="4268382"/>
        <a:ext cx="1807854" cy="11369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66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1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2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7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31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30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3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67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00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435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14" r:id="rId6"/>
    <p:sldLayoutId id="2147483710" r:id="rId7"/>
    <p:sldLayoutId id="2147483711" r:id="rId8"/>
    <p:sldLayoutId id="2147483712" r:id="rId9"/>
    <p:sldLayoutId id="2147483713" r:id="rId10"/>
    <p:sldLayoutId id="214748371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200" dirty="0">
                <a:latin typeface="Times New Roman"/>
                <a:cs typeface="Times New Roman"/>
              </a:rPr>
              <a:t>Data 205 Project Plan</a:t>
            </a:r>
            <a:br>
              <a:rPr lang="fr-FR" sz="4200">
                <a:latin typeface="Times New Roman"/>
                <a:cs typeface="Times New Roman"/>
              </a:rPr>
            </a:br>
            <a:r>
              <a:rPr lang="fr-FR" sz="4200" b="0" dirty="0">
                <a:latin typeface="Times New Roman"/>
                <a:ea typeface="+mj-lt"/>
                <a:cs typeface="Times New Roman"/>
              </a:rPr>
              <a:t>Maryland State </a:t>
            </a:r>
            <a:r>
              <a:rPr lang="fr-FR" sz="4200" b="0" dirty="0" err="1">
                <a:latin typeface="Times New Roman"/>
                <a:ea typeface="+mj-lt"/>
                <a:cs typeface="Times New Roman"/>
              </a:rPr>
              <a:t>Aid</a:t>
            </a:r>
            <a:r>
              <a:rPr lang="fr-FR" sz="4200" b="0" dirty="0">
                <a:latin typeface="Times New Roman"/>
                <a:ea typeface="+mj-lt"/>
                <a:cs typeface="Times New Roman"/>
              </a:rPr>
              <a:t> </a:t>
            </a:r>
            <a:r>
              <a:rPr lang="fr-FR" sz="4200" b="0" dirty="0" err="1">
                <a:latin typeface="Times New Roman"/>
                <a:ea typeface="+mj-lt"/>
                <a:cs typeface="Times New Roman"/>
              </a:rPr>
              <a:t>Analysis</a:t>
            </a:r>
            <a:r>
              <a:rPr lang="fr-FR" sz="4200" b="0" dirty="0">
                <a:latin typeface="Times New Roman"/>
                <a:ea typeface="+mj-lt"/>
                <a:cs typeface="Times New Roman"/>
              </a:rPr>
              <a:t> (FY2009–2024)</a:t>
            </a:r>
            <a:endParaRPr lang="fr-FR" sz="4200" b="0" dirty="0">
              <a:latin typeface="Times New Roman"/>
              <a:cs typeface="Times New Roman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400">
                <a:ea typeface="+mn-lt"/>
                <a:cs typeface="+mn-lt"/>
              </a:rPr>
              <a:t>Distribution Patterns and </a:t>
            </a:r>
            <a:r>
              <a:rPr lang="fr-FR" sz="1400" err="1">
                <a:ea typeface="+mn-lt"/>
                <a:cs typeface="+mn-lt"/>
              </a:rPr>
              <a:t>Economic</a:t>
            </a:r>
            <a:r>
              <a:rPr lang="fr-FR" sz="1400">
                <a:ea typeface="+mn-lt"/>
                <a:cs typeface="+mn-lt"/>
              </a:rPr>
              <a:t> Shifts</a:t>
            </a:r>
          </a:p>
          <a:p>
            <a:pPr>
              <a:lnSpc>
                <a:spcPct val="100000"/>
              </a:lnSpc>
            </a:pPr>
            <a:r>
              <a:rPr lang="fr-FR" sz="1400"/>
              <a:t>Ike Depenyou</a:t>
            </a:r>
          </a:p>
          <a:p>
            <a:pPr>
              <a:lnSpc>
                <a:spcPct val="100000"/>
              </a:lnSpc>
            </a:pPr>
            <a:r>
              <a:rPr lang="fr-FR" sz="1400"/>
              <a:t>Data205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Personne pointant sur une carte">
            <a:extLst>
              <a:ext uri="{FF2B5EF4-FFF2-40B4-BE49-F238E27FC236}">
                <a16:creationId xmlns:a16="http://schemas.microsoft.com/office/drawing/2014/main" id="{C76EF644-378B-2501-4D78-B357948705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395" r="28350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946154-8D24-E7DA-B7D0-2C9F4D69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Data </a:t>
            </a:r>
            <a:r>
              <a:rPr lang="fr-FR" dirty="0" err="1">
                <a:solidFill>
                  <a:schemeClr val="bg1"/>
                </a:solidFill>
              </a:rPr>
              <a:t>overview</a:t>
            </a:r>
          </a:p>
        </p:txBody>
      </p:sp>
      <p:cxnSp>
        <p:nvCxnSpPr>
          <p:cNvPr id="27" name="Straight Connector 2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Espace réservé du contenu 2">
            <a:extLst>
              <a:ext uri="{FF2B5EF4-FFF2-40B4-BE49-F238E27FC236}">
                <a16:creationId xmlns:a16="http://schemas.microsoft.com/office/drawing/2014/main" id="{91278ADE-EDED-3D35-1C67-A9767936EA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453236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052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8A1DE62-8287-F99F-7EB6-7A36BFE54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fr-FR"/>
              <a:t>Data  </a:t>
            </a:r>
            <a:r>
              <a:rPr lang="fr-FR" err="1"/>
              <a:t>Limitat</a:t>
            </a:r>
            <a:r>
              <a:rPr lang="fr-FR"/>
              <a:t>ions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C7F3BA2C-47AE-401C-3EB8-24C05F002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b="1">
                <a:ea typeface="+mn-lt"/>
                <a:cs typeface="+mn-lt"/>
              </a:rPr>
              <a:t>Content:</a:t>
            </a:r>
            <a:endParaRPr lang="fr-FR"/>
          </a:p>
          <a:p>
            <a:r>
              <a:rPr lang="fr-FR" dirty="0" err="1">
                <a:ea typeface="+mn-lt"/>
                <a:cs typeface="+mn-lt"/>
              </a:rPr>
              <a:t>Left-truncated</a:t>
            </a:r>
            <a:r>
              <a:rPr lang="fr-FR" dirty="0">
                <a:ea typeface="+mn-lt"/>
                <a:cs typeface="+mn-lt"/>
              </a:rPr>
              <a:t> (</a:t>
            </a:r>
            <a:r>
              <a:rPr lang="fr-FR" dirty="0" err="1">
                <a:ea typeface="+mn-lt"/>
                <a:cs typeface="+mn-lt"/>
              </a:rPr>
              <a:t>only</a:t>
            </a:r>
            <a:r>
              <a:rPr lang="fr-FR" dirty="0">
                <a:ea typeface="+mn-lt"/>
                <a:cs typeface="+mn-lt"/>
              </a:rPr>
              <a:t> ≥ $50,000)</a:t>
            </a:r>
            <a:endParaRPr lang="fr-FR" dirty="0"/>
          </a:p>
          <a:p>
            <a:r>
              <a:rPr lang="fr-FR" dirty="0" err="1">
                <a:ea typeface="+mn-lt"/>
                <a:cs typeface="+mn-lt"/>
              </a:rPr>
              <a:t>Bias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toward</a:t>
            </a:r>
            <a:r>
              <a:rPr lang="fr-FR" dirty="0">
                <a:ea typeface="+mn-lt"/>
                <a:cs typeface="+mn-lt"/>
              </a:rPr>
              <a:t> large </a:t>
            </a:r>
            <a:r>
              <a:rPr lang="fr-FR" dirty="0" err="1">
                <a:ea typeface="+mn-lt"/>
                <a:cs typeface="+mn-lt"/>
              </a:rPr>
              <a:t>organizations</a:t>
            </a:r>
            <a:endParaRPr lang="fr-FR" dirty="0" err="1"/>
          </a:p>
          <a:p>
            <a:r>
              <a:rPr lang="fr-FR" dirty="0" err="1">
                <a:ea typeface="+mn-lt"/>
                <a:cs typeface="+mn-lt"/>
              </a:rPr>
              <a:t>Inconsistent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naming</a:t>
            </a:r>
            <a:r>
              <a:rPr lang="fr-FR" dirty="0">
                <a:ea typeface="+mn-lt"/>
                <a:cs typeface="+mn-lt"/>
              </a:rPr>
              <a:t> (e.g., </a:t>
            </a:r>
            <a:r>
              <a:rPr lang="fr-FR" dirty="0" err="1">
                <a:ea typeface="+mn-lt"/>
                <a:cs typeface="+mn-lt"/>
              </a:rPr>
              <a:t>agency</a:t>
            </a:r>
            <a:r>
              <a:rPr lang="fr-FR" dirty="0">
                <a:ea typeface="+mn-lt"/>
                <a:cs typeface="+mn-lt"/>
              </a:rPr>
              <a:t> variations)</a:t>
            </a:r>
            <a:endParaRPr lang="fr-FR" dirty="0"/>
          </a:p>
          <a:p>
            <a:pPr marL="0" indent="0">
              <a:buNone/>
            </a:pPr>
            <a:br>
              <a:rPr lang="fr-FR" b="1" dirty="0">
                <a:ea typeface="+mn-lt"/>
                <a:cs typeface="+mn-lt"/>
              </a:rPr>
            </a:br>
            <a:r>
              <a:rPr lang="fr-FR" b="1" dirty="0">
                <a:ea typeface="+mn-lt"/>
                <a:cs typeface="+mn-lt"/>
              </a:rPr>
              <a:t> “One limitation </a:t>
            </a:r>
            <a:r>
              <a:rPr lang="fr-FR" b="1" err="1">
                <a:ea typeface="+mn-lt"/>
                <a:cs typeface="+mn-lt"/>
              </a:rPr>
              <a:t>is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that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smaller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awards</a:t>
            </a:r>
            <a:r>
              <a:rPr lang="fr-FR" b="1" dirty="0">
                <a:ea typeface="+mn-lt"/>
                <a:cs typeface="+mn-lt"/>
              </a:rPr>
              <a:t> are </a:t>
            </a:r>
            <a:r>
              <a:rPr lang="fr-FR" b="1" err="1">
                <a:ea typeface="+mn-lt"/>
                <a:cs typeface="+mn-lt"/>
              </a:rPr>
              <a:t>excluded</a:t>
            </a:r>
            <a:r>
              <a:rPr lang="fr-FR" b="1" dirty="0">
                <a:ea typeface="+mn-lt"/>
                <a:cs typeface="+mn-lt"/>
              </a:rPr>
              <a:t>, </a:t>
            </a:r>
            <a:r>
              <a:rPr lang="fr-FR" b="1" err="1">
                <a:ea typeface="+mn-lt"/>
                <a:cs typeface="+mn-lt"/>
              </a:rPr>
              <a:t>which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may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bias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results</a:t>
            </a:r>
            <a:r>
              <a:rPr lang="fr-FR" b="1" dirty="0">
                <a:ea typeface="+mn-lt"/>
                <a:cs typeface="+mn-lt"/>
              </a:rPr>
              <a:t>. </a:t>
            </a:r>
            <a:r>
              <a:rPr lang="fr-FR" b="1" err="1">
                <a:ea typeface="+mn-lt"/>
                <a:cs typeface="+mn-lt"/>
              </a:rPr>
              <a:t>Additionally</a:t>
            </a:r>
            <a:r>
              <a:rPr lang="fr-FR" b="1" dirty="0">
                <a:ea typeface="+mn-lt"/>
                <a:cs typeface="+mn-lt"/>
              </a:rPr>
              <a:t>, </a:t>
            </a:r>
            <a:r>
              <a:rPr lang="fr-FR" b="1" err="1">
                <a:ea typeface="+mn-lt"/>
                <a:cs typeface="+mn-lt"/>
              </a:rPr>
              <a:t>inconsistencies</a:t>
            </a:r>
            <a:r>
              <a:rPr lang="fr-FR" b="1" dirty="0">
                <a:ea typeface="+mn-lt"/>
                <a:cs typeface="+mn-lt"/>
              </a:rPr>
              <a:t> in </a:t>
            </a:r>
            <a:r>
              <a:rPr lang="fr-FR" b="1" err="1">
                <a:ea typeface="+mn-lt"/>
                <a:cs typeface="+mn-lt"/>
              </a:rPr>
              <a:t>naming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require</a:t>
            </a:r>
            <a:r>
              <a:rPr lang="fr-FR" b="1" dirty="0">
                <a:ea typeface="+mn-lt"/>
                <a:cs typeface="+mn-lt"/>
              </a:rPr>
              <a:t> extensive data </a:t>
            </a:r>
            <a:r>
              <a:rPr lang="fr-FR" b="1" err="1">
                <a:ea typeface="+mn-lt"/>
                <a:cs typeface="+mn-lt"/>
              </a:rPr>
              <a:t>cleaning</a:t>
            </a:r>
            <a:r>
              <a:rPr lang="fr-FR" b="1" dirty="0">
                <a:ea typeface="+mn-lt"/>
                <a:cs typeface="+mn-lt"/>
              </a:rPr>
              <a:t>.”</a:t>
            </a:r>
            <a:endParaRPr lang="fr-FR" dirty="0"/>
          </a:p>
          <a:p>
            <a:endParaRPr lang="fr-FR" dirty="0"/>
          </a:p>
        </p:txBody>
      </p:sp>
      <p:pic>
        <p:nvPicPr>
          <p:cNvPr id="30" name="Picture 4" descr="Câbles ethernet connectés à un correctif de mise en réseau">
            <a:extLst>
              <a:ext uri="{FF2B5EF4-FFF2-40B4-BE49-F238E27FC236}">
                <a16:creationId xmlns:a16="http://schemas.microsoft.com/office/drawing/2014/main" id="{139B37D6-B6C0-BE7D-35E3-D571855B62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9" r="12378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56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FD720-70A4-B4DF-C5AE-1A73D8E1D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8656" y="914400"/>
            <a:ext cx="6236208" cy="1307592"/>
          </a:xfrm>
        </p:spPr>
        <p:txBody>
          <a:bodyPr>
            <a:normAutofit/>
          </a:bodyPr>
          <a:lstStyle/>
          <a:p>
            <a:r>
              <a:rPr lang="fr-FR"/>
              <a:t>Research</a:t>
            </a:r>
            <a:r>
              <a:rPr lang="fr-FR" dirty="0"/>
              <a:t> Goal 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49240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4" descr="Échantillon versé par pipette dans une boîte de Petri">
            <a:extLst>
              <a:ext uri="{FF2B5EF4-FFF2-40B4-BE49-F238E27FC236}">
                <a16:creationId xmlns:a16="http://schemas.microsoft.com/office/drawing/2014/main" id="{DB67CDE7-ADD8-A0A6-A7AF-F59345CA1A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028" r="3426" b="3"/>
          <a:stretch>
            <a:fillRect/>
          </a:stretch>
        </p:blipFill>
        <p:spPr>
          <a:xfrm>
            <a:off x="712312" y="749808"/>
            <a:ext cx="3950208" cy="5413248"/>
          </a:xfrm>
          <a:prstGeom prst="rect">
            <a:avLst/>
          </a:prstGeom>
        </p:spPr>
      </p:pic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07F173B8-868C-62FE-D044-5DD7AE872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656" y="2221992"/>
            <a:ext cx="6236208" cy="39410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900" b="1" dirty="0" err="1">
                <a:ea typeface="+mn-lt"/>
                <a:cs typeface="+mn-lt"/>
              </a:rPr>
              <a:t>Primary</a:t>
            </a:r>
            <a:r>
              <a:rPr lang="fr-FR" sz="1900" b="1" dirty="0">
                <a:ea typeface="+mn-lt"/>
                <a:cs typeface="+mn-lt"/>
              </a:rPr>
              <a:t> Goal:</a:t>
            </a:r>
            <a:br>
              <a:rPr lang="fr-FR" sz="1900" b="1" dirty="0">
                <a:ea typeface="+mn-lt"/>
                <a:cs typeface="+mn-lt"/>
              </a:rPr>
            </a:br>
            <a:r>
              <a:rPr lang="fr-FR" sz="1900" b="1" dirty="0">
                <a:ea typeface="+mn-lt"/>
                <a:cs typeface="+mn-lt"/>
              </a:rPr>
              <a:t> </a:t>
            </a:r>
            <a:r>
              <a:rPr lang="fr-FR" sz="1900" b="1" dirty="0" err="1">
                <a:ea typeface="+mn-lt"/>
                <a:cs typeface="+mn-lt"/>
              </a:rPr>
              <a:t>Analyze</a:t>
            </a:r>
            <a:r>
              <a:rPr lang="fr-FR" sz="1900" b="1" dirty="0">
                <a:ea typeface="+mn-lt"/>
                <a:cs typeface="+mn-lt"/>
              </a:rPr>
              <a:t> distribution patterns and shifts in </a:t>
            </a:r>
            <a:r>
              <a:rPr lang="fr-FR" sz="1900" b="1" dirty="0" err="1">
                <a:ea typeface="+mn-lt"/>
                <a:cs typeface="+mn-lt"/>
              </a:rPr>
              <a:t>economic</a:t>
            </a:r>
            <a:r>
              <a:rPr lang="fr-FR" sz="1900" b="1" dirty="0">
                <a:ea typeface="+mn-lt"/>
                <a:cs typeface="+mn-lt"/>
              </a:rPr>
              <a:t> </a:t>
            </a:r>
            <a:r>
              <a:rPr lang="fr-FR" sz="1900" b="1" dirty="0" err="1">
                <a:ea typeface="+mn-lt"/>
                <a:cs typeface="+mn-lt"/>
              </a:rPr>
              <a:t>priorities</a:t>
            </a:r>
            <a:endParaRPr lang="fr-FR" sz="1900" dirty="0" err="1"/>
          </a:p>
          <a:p>
            <a:pPr>
              <a:lnSpc>
                <a:spcPct val="100000"/>
              </a:lnSpc>
            </a:pPr>
            <a:r>
              <a:rPr lang="fr-FR" sz="1900" b="1" dirty="0">
                <a:ea typeface="+mn-lt"/>
                <a:cs typeface="+mn-lt"/>
              </a:rPr>
              <a:t>Focus </a:t>
            </a:r>
            <a:r>
              <a:rPr lang="fr-FR" sz="1900" b="1" dirty="0" err="1">
                <a:ea typeface="+mn-lt"/>
                <a:cs typeface="+mn-lt"/>
              </a:rPr>
              <a:t>Periods</a:t>
            </a:r>
            <a:r>
              <a:rPr lang="fr-FR" sz="1900" b="1" dirty="0">
                <a:ea typeface="+mn-lt"/>
                <a:cs typeface="+mn-lt"/>
              </a:rPr>
              <a:t>:</a:t>
            </a:r>
            <a:endParaRPr lang="fr-FR" sz="1900" dirty="0"/>
          </a:p>
          <a:p>
            <a:pPr>
              <a:lnSpc>
                <a:spcPct val="100000"/>
              </a:lnSpc>
            </a:pPr>
            <a:r>
              <a:rPr lang="fr-FR" sz="1900" dirty="0" err="1">
                <a:ea typeface="+mn-lt"/>
                <a:cs typeface="+mn-lt"/>
              </a:rPr>
              <a:t>Pre-pandemic</a:t>
            </a:r>
            <a:r>
              <a:rPr lang="fr-FR" sz="1900" dirty="0">
                <a:ea typeface="+mn-lt"/>
                <a:cs typeface="+mn-lt"/>
              </a:rPr>
              <a:t> (2017–2019)</a:t>
            </a:r>
            <a:endParaRPr lang="fr-FR" sz="1900" dirty="0"/>
          </a:p>
          <a:p>
            <a:pPr>
              <a:lnSpc>
                <a:spcPct val="100000"/>
              </a:lnSpc>
            </a:pPr>
            <a:r>
              <a:rPr lang="fr-FR" sz="1900" dirty="0" err="1">
                <a:ea typeface="+mn-lt"/>
                <a:cs typeface="+mn-lt"/>
              </a:rPr>
              <a:t>Pandemic</a:t>
            </a:r>
            <a:r>
              <a:rPr lang="fr-FR" sz="1900" dirty="0">
                <a:ea typeface="+mn-lt"/>
                <a:cs typeface="+mn-lt"/>
              </a:rPr>
              <a:t> (2020–2022)</a:t>
            </a:r>
            <a:endParaRPr lang="fr-FR" sz="1900" dirty="0"/>
          </a:p>
          <a:p>
            <a:pPr>
              <a:lnSpc>
                <a:spcPct val="100000"/>
              </a:lnSpc>
            </a:pPr>
            <a:r>
              <a:rPr lang="fr-FR" sz="1900" dirty="0">
                <a:ea typeface="+mn-lt"/>
                <a:cs typeface="+mn-lt"/>
              </a:rPr>
              <a:t>Post-</a:t>
            </a:r>
            <a:r>
              <a:rPr lang="fr-FR" sz="1900" dirty="0" err="1">
                <a:ea typeface="+mn-lt"/>
                <a:cs typeface="+mn-lt"/>
              </a:rPr>
              <a:t>pandemic</a:t>
            </a:r>
            <a:r>
              <a:rPr lang="fr-FR" sz="1900" dirty="0">
                <a:ea typeface="+mn-lt"/>
                <a:cs typeface="+mn-lt"/>
              </a:rPr>
              <a:t> (2023–2024)</a:t>
            </a:r>
            <a:endParaRPr lang="fr-FR" sz="1900" dirty="0"/>
          </a:p>
          <a:p>
            <a:pPr marL="0" indent="0">
              <a:lnSpc>
                <a:spcPct val="100000"/>
              </a:lnSpc>
              <a:buNone/>
            </a:pPr>
            <a:br>
              <a:rPr lang="fr-FR" sz="1900" b="1" dirty="0">
                <a:ea typeface="+mn-lt"/>
                <a:cs typeface="+mn-lt"/>
              </a:rPr>
            </a:br>
            <a:r>
              <a:rPr lang="fr-FR" sz="1900" b="1" dirty="0">
                <a:ea typeface="+mn-lt"/>
                <a:cs typeface="+mn-lt"/>
              </a:rPr>
              <a:t> “The central objective </a:t>
            </a:r>
            <a:r>
              <a:rPr lang="fr-FR" sz="1900" b="1" err="1">
                <a:ea typeface="+mn-lt"/>
                <a:cs typeface="+mn-lt"/>
              </a:rPr>
              <a:t>is</a:t>
            </a:r>
            <a:r>
              <a:rPr lang="fr-FR" sz="1900" b="1" dirty="0">
                <a:ea typeface="+mn-lt"/>
                <a:cs typeface="+mn-lt"/>
              </a:rPr>
              <a:t> to </a:t>
            </a:r>
            <a:r>
              <a:rPr lang="fr-FR" sz="1900" b="1" err="1">
                <a:ea typeface="+mn-lt"/>
                <a:cs typeface="+mn-lt"/>
              </a:rPr>
              <a:t>understand</a:t>
            </a:r>
            <a:r>
              <a:rPr lang="fr-FR" sz="1900" b="1" dirty="0">
                <a:ea typeface="+mn-lt"/>
                <a:cs typeface="+mn-lt"/>
              </a:rPr>
              <a:t> how </a:t>
            </a:r>
            <a:r>
              <a:rPr lang="fr-FR" sz="1900" b="1" err="1">
                <a:ea typeface="+mn-lt"/>
                <a:cs typeface="+mn-lt"/>
              </a:rPr>
              <a:t>funding</a:t>
            </a:r>
            <a:r>
              <a:rPr lang="fr-FR" sz="1900" b="1" dirty="0">
                <a:ea typeface="+mn-lt"/>
                <a:cs typeface="+mn-lt"/>
              </a:rPr>
              <a:t> </a:t>
            </a:r>
            <a:r>
              <a:rPr lang="fr-FR" sz="1900" b="1" err="1">
                <a:ea typeface="+mn-lt"/>
                <a:cs typeface="+mn-lt"/>
              </a:rPr>
              <a:t>priorities</a:t>
            </a:r>
            <a:r>
              <a:rPr lang="fr-FR" sz="1900" b="1" dirty="0">
                <a:ea typeface="+mn-lt"/>
                <a:cs typeface="+mn-lt"/>
              </a:rPr>
              <a:t> </a:t>
            </a:r>
            <a:r>
              <a:rPr lang="fr-FR" sz="1900" b="1" err="1">
                <a:ea typeface="+mn-lt"/>
                <a:cs typeface="+mn-lt"/>
              </a:rPr>
              <a:t>evolved</a:t>
            </a:r>
            <a:r>
              <a:rPr lang="fr-FR" sz="1900" b="1" dirty="0">
                <a:ea typeface="+mn-lt"/>
                <a:cs typeface="+mn-lt"/>
              </a:rPr>
              <a:t>, </a:t>
            </a:r>
            <a:r>
              <a:rPr lang="fr-FR" sz="1900" b="1" err="1">
                <a:ea typeface="+mn-lt"/>
                <a:cs typeface="+mn-lt"/>
              </a:rPr>
              <a:t>especially</a:t>
            </a:r>
            <a:r>
              <a:rPr lang="fr-FR" sz="1900" b="1" dirty="0">
                <a:ea typeface="+mn-lt"/>
                <a:cs typeface="+mn-lt"/>
              </a:rPr>
              <a:t> </a:t>
            </a:r>
            <a:r>
              <a:rPr lang="fr-FR" sz="1900" b="1" err="1">
                <a:ea typeface="+mn-lt"/>
                <a:cs typeface="+mn-lt"/>
              </a:rPr>
              <a:t>during</a:t>
            </a:r>
            <a:r>
              <a:rPr lang="fr-FR" sz="1900" b="1" dirty="0">
                <a:ea typeface="+mn-lt"/>
                <a:cs typeface="+mn-lt"/>
              </a:rPr>
              <a:t> the COVID-19 </a:t>
            </a:r>
            <a:r>
              <a:rPr lang="fr-FR" sz="1900" b="1" err="1">
                <a:ea typeface="+mn-lt"/>
                <a:cs typeface="+mn-lt"/>
              </a:rPr>
              <a:t>crisis</a:t>
            </a:r>
            <a:r>
              <a:rPr lang="fr-FR" sz="1900" b="1" dirty="0">
                <a:ea typeface="+mn-lt"/>
                <a:cs typeface="+mn-lt"/>
              </a:rPr>
              <a:t>.”</a:t>
            </a:r>
            <a:endParaRPr lang="fr-FR" sz="1900" dirty="0"/>
          </a:p>
          <a:p>
            <a:pPr>
              <a:lnSpc>
                <a:spcPct val="100000"/>
              </a:lnSpc>
            </a:pPr>
            <a:endParaRPr lang="fr-FR" sz="1900"/>
          </a:p>
        </p:txBody>
      </p:sp>
    </p:spTree>
    <p:extLst>
      <p:ext uri="{BB962C8B-B14F-4D97-AF65-F5344CB8AC3E}">
        <p14:creationId xmlns:p14="http://schemas.microsoft.com/office/powerpoint/2010/main" val="405919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05E63C0-D0ED-7C5D-9280-645D581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r>
              <a:rPr lang="fr-FR" dirty="0"/>
              <a:t>Key </a:t>
            </a:r>
            <a:r>
              <a:rPr lang="fr-FR" dirty="0" err="1"/>
              <a:t>research</a:t>
            </a:r>
            <a:r>
              <a:rPr lang="fr-FR" dirty="0"/>
              <a:t>  questions</a:t>
            </a:r>
          </a:p>
        </p:txBody>
      </p:sp>
      <p:pic>
        <p:nvPicPr>
          <p:cNvPr id="5" name="Picture 4" descr="Une salle grisée remplie de points d’interrogation avec une ouverture en sortie">
            <a:extLst>
              <a:ext uri="{FF2B5EF4-FFF2-40B4-BE49-F238E27FC236}">
                <a16:creationId xmlns:a16="http://schemas.microsoft.com/office/drawing/2014/main" id="{2A39E5F1-5C94-1FF1-A8E9-D3A7A2C1A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74" r="19975" b="-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DF24EB1-E7FF-96B1-3A88-85114D21B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38" y="2236843"/>
            <a:ext cx="5201121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900" dirty="0" err="1">
                <a:ea typeface="+mn-lt"/>
                <a:cs typeface="+mn-lt"/>
              </a:rPr>
              <a:t>Annual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grant</a:t>
            </a:r>
            <a:r>
              <a:rPr lang="fr-FR" sz="1900" dirty="0">
                <a:ea typeface="+mn-lt"/>
                <a:cs typeface="+mn-lt"/>
              </a:rPr>
              <a:t> volume trends</a:t>
            </a:r>
            <a:endParaRPr lang="fr-FR" sz="1900" dirty="0"/>
          </a:p>
          <a:p>
            <a:pPr>
              <a:lnSpc>
                <a:spcPct val="100000"/>
              </a:lnSpc>
            </a:pPr>
            <a:r>
              <a:rPr lang="fr-FR" sz="1900" dirty="0">
                <a:ea typeface="+mn-lt"/>
                <a:cs typeface="+mn-lt"/>
              </a:rPr>
              <a:t>Top </a:t>
            </a:r>
            <a:r>
              <a:rPr lang="fr-FR" sz="1900" dirty="0" err="1">
                <a:ea typeface="+mn-lt"/>
                <a:cs typeface="+mn-lt"/>
              </a:rPr>
              <a:t>funding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agencies</a:t>
            </a:r>
            <a:endParaRPr lang="fr-FR" sz="1900" dirty="0" err="1"/>
          </a:p>
          <a:p>
            <a:pPr>
              <a:lnSpc>
                <a:spcPct val="100000"/>
              </a:lnSpc>
            </a:pPr>
            <a:r>
              <a:rPr lang="fr-FR" sz="1900" dirty="0">
                <a:ea typeface="+mn-lt"/>
                <a:cs typeface="+mn-lt"/>
              </a:rPr>
              <a:t>Grant vs </a:t>
            </a:r>
            <a:r>
              <a:rPr lang="fr-FR" sz="1900" dirty="0" err="1">
                <a:ea typeface="+mn-lt"/>
                <a:cs typeface="+mn-lt"/>
              </a:rPr>
              <a:t>loan</a:t>
            </a:r>
            <a:r>
              <a:rPr lang="fr-FR" sz="1900" dirty="0">
                <a:ea typeface="+mn-lt"/>
                <a:cs typeface="+mn-lt"/>
              </a:rPr>
              <a:t> </a:t>
            </a:r>
            <a:r>
              <a:rPr lang="fr-FR" sz="1900" dirty="0" err="1">
                <a:ea typeface="+mn-lt"/>
                <a:cs typeface="+mn-lt"/>
              </a:rPr>
              <a:t>differences</a:t>
            </a:r>
            <a:endParaRPr lang="fr-FR" sz="1900" dirty="0" err="1"/>
          </a:p>
          <a:p>
            <a:pPr>
              <a:lnSpc>
                <a:spcPct val="100000"/>
              </a:lnSpc>
            </a:pPr>
            <a:r>
              <a:rPr lang="fr-FR" sz="1900" dirty="0">
                <a:ea typeface="+mn-lt"/>
                <a:cs typeface="+mn-lt"/>
              </a:rPr>
              <a:t>COVID impact on </a:t>
            </a:r>
            <a:r>
              <a:rPr lang="fr-FR" sz="1900" dirty="0" err="1">
                <a:ea typeface="+mn-lt"/>
                <a:cs typeface="+mn-lt"/>
              </a:rPr>
              <a:t>recipients</a:t>
            </a:r>
            <a:endParaRPr lang="fr-FR" sz="1900" dirty="0" err="1"/>
          </a:p>
          <a:p>
            <a:pPr>
              <a:lnSpc>
                <a:spcPct val="100000"/>
              </a:lnSpc>
            </a:pPr>
            <a:r>
              <a:rPr lang="fr-FR" sz="1900">
                <a:ea typeface="+mn-lt"/>
                <a:cs typeface="+mn-lt"/>
              </a:rPr>
              <a:t>Geographic distribution</a:t>
            </a:r>
            <a:endParaRPr lang="fr-FR" sz="1900"/>
          </a:p>
          <a:p>
            <a:pPr>
              <a:lnSpc>
                <a:spcPct val="100000"/>
              </a:lnSpc>
            </a:pPr>
            <a:r>
              <a:rPr lang="fr-FR" sz="1900" dirty="0" err="1">
                <a:ea typeface="+mn-lt"/>
                <a:cs typeface="+mn-lt"/>
              </a:rPr>
              <a:t>Forecast</a:t>
            </a:r>
            <a:r>
              <a:rPr lang="fr-FR" sz="1900" dirty="0">
                <a:ea typeface="+mn-lt"/>
                <a:cs typeface="+mn-lt"/>
              </a:rPr>
              <a:t> for 2025</a:t>
            </a:r>
            <a:endParaRPr lang="fr-FR" sz="1900" dirty="0"/>
          </a:p>
          <a:p>
            <a:pPr marL="0" indent="0">
              <a:lnSpc>
                <a:spcPct val="100000"/>
              </a:lnSpc>
              <a:buNone/>
            </a:pPr>
            <a:br>
              <a:rPr lang="fr-FR" sz="1900" b="1" dirty="0">
                <a:ea typeface="+mn-lt"/>
                <a:cs typeface="+mn-lt"/>
              </a:rPr>
            </a:br>
            <a:r>
              <a:rPr lang="fr-FR" sz="1900" b="1" dirty="0">
                <a:ea typeface="+mn-lt"/>
                <a:cs typeface="+mn-lt"/>
              </a:rPr>
              <a:t> “</a:t>
            </a:r>
            <a:r>
              <a:rPr lang="fr-FR" sz="1900" b="1" dirty="0" err="1">
                <a:ea typeface="+mn-lt"/>
                <a:cs typeface="+mn-lt"/>
              </a:rPr>
              <a:t>These</a:t>
            </a:r>
            <a:r>
              <a:rPr lang="fr-FR" sz="1900" b="1" dirty="0">
                <a:ea typeface="+mn-lt"/>
                <a:cs typeface="+mn-lt"/>
              </a:rPr>
              <a:t> questions guide </a:t>
            </a:r>
            <a:r>
              <a:rPr lang="fr-FR" sz="1900" b="1" dirty="0" err="1">
                <a:ea typeface="+mn-lt"/>
                <a:cs typeface="+mn-lt"/>
              </a:rPr>
              <a:t>both</a:t>
            </a:r>
            <a:r>
              <a:rPr lang="fr-FR" sz="1900" b="1" dirty="0">
                <a:ea typeface="+mn-lt"/>
                <a:cs typeface="+mn-lt"/>
              </a:rPr>
              <a:t> descriptive and </a:t>
            </a:r>
            <a:r>
              <a:rPr lang="fr-FR" sz="1900" b="1" dirty="0" err="1">
                <a:ea typeface="+mn-lt"/>
                <a:cs typeface="+mn-lt"/>
              </a:rPr>
              <a:t>predictive</a:t>
            </a:r>
            <a:r>
              <a:rPr lang="fr-FR" sz="1900" b="1" dirty="0">
                <a:ea typeface="+mn-lt"/>
                <a:cs typeface="+mn-lt"/>
              </a:rPr>
              <a:t> </a:t>
            </a:r>
            <a:r>
              <a:rPr lang="fr-FR" sz="1900" b="1" dirty="0" err="1">
                <a:ea typeface="+mn-lt"/>
                <a:cs typeface="+mn-lt"/>
              </a:rPr>
              <a:t>analysis</a:t>
            </a:r>
            <a:r>
              <a:rPr lang="fr-FR" sz="1900" b="1" dirty="0">
                <a:ea typeface="+mn-lt"/>
                <a:cs typeface="+mn-lt"/>
              </a:rPr>
              <a:t>, </a:t>
            </a:r>
            <a:r>
              <a:rPr lang="fr-FR" sz="1900" b="1" dirty="0" err="1">
                <a:ea typeface="+mn-lt"/>
                <a:cs typeface="+mn-lt"/>
              </a:rPr>
              <a:t>allowing</a:t>
            </a:r>
            <a:r>
              <a:rPr lang="fr-FR" sz="1900" b="1" dirty="0">
                <a:ea typeface="+mn-lt"/>
                <a:cs typeface="+mn-lt"/>
              </a:rPr>
              <a:t> us to examine trends, </a:t>
            </a:r>
            <a:r>
              <a:rPr lang="fr-FR" sz="1900" b="1" dirty="0" err="1">
                <a:ea typeface="+mn-lt"/>
                <a:cs typeface="+mn-lt"/>
              </a:rPr>
              <a:t>disparities</a:t>
            </a:r>
            <a:r>
              <a:rPr lang="fr-FR" sz="1900" b="1" dirty="0">
                <a:ea typeface="+mn-lt"/>
                <a:cs typeface="+mn-lt"/>
              </a:rPr>
              <a:t>, and future projections.”</a:t>
            </a:r>
            <a:endParaRPr lang="fr-FR" sz="1900" dirty="0"/>
          </a:p>
          <a:p>
            <a:pPr>
              <a:lnSpc>
                <a:spcPct val="100000"/>
              </a:lnSpc>
            </a:pPr>
            <a:endParaRPr lang="fr-FR" sz="1900"/>
          </a:p>
        </p:txBody>
      </p:sp>
    </p:spTree>
    <p:extLst>
      <p:ext uri="{BB962C8B-B14F-4D97-AF65-F5344CB8AC3E}">
        <p14:creationId xmlns:p14="http://schemas.microsoft.com/office/powerpoint/2010/main" val="240972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ECD9BC-B319-B1C6-6D98-D7586077F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fr-FR" dirty="0"/>
              <a:t>Methods and </a:t>
            </a:r>
            <a:r>
              <a:rPr lang="fr-FR" dirty="0" err="1"/>
              <a:t>models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75F426-A104-E6A7-F718-4339CA22D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T-test → Grant vs Loan </a:t>
            </a:r>
            <a:r>
              <a:rPr lang="fr-FR" dirty="0" err="1">
                <a:ea typeface="+mn-lt"/>
                <a:cs typeface="+mn-lt"/>
              </a:rPr>
              <a:t>comparison</a:t>
            </a:r>
            <a:endParaRPr lang="fr-FR"/>
          </a:p>
          <a:p>
            <a:pPr>
              <a:lnSpc>
                <a:spcPct val="100000"/>
              </a:lnSpc>
            </a:pPr>
            <a:r>
              <a:rPr lang="fr-FR" dirty="0" err="1">
                <a:ea typeface="+mn-lt"/>
                <a:cs typeface="+mn-lt"/>
              </a:rPr>
              <a:t>Regression</a:t>
            </a:r>
            <a:r>
              <a:rPr lang="fr-FR" dirty="0">
                <a:ea typeface="+mn-lt"/>
                <a:cs typeface="+mn-lt"/>
              </a:rPr>
              <a:t> → </a:t>
            </a:r>
            <a:r>
              <a:rPr lang="fr-FR" dirty="0" err="1">
                <a:ea typeface="+mn-lt"/>
                <a:cs typeface="+mn-lt"/>
              </a:rPr>
              <a:t>Predict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award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amount</a:t>
            </a:r>
            <a:endParaRPr lang="fr-FR"/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K-</a:t>
            </a:r>
            <a:r>
              <a:rPr lang="fr-FR" dirty="0" err="1">
                <a:ea typeface="+mn-lt"/>
                <a:cs typeface="+mn-lt"/>
              </a:rPr>
              <a:t>means</a:t>
            </a:r>
            <a:r>
              <a:rPr lang="fr-FR" dirty="0">
                <a:ea typeface="+mn-lt"/>
                <a:cs typeface="+mn-lt"/>
              </a:rPr>
              <a:t> → Geographic clustering</a:t>
            </a:r>
            <a:endParaRPr lang="fr-FR"/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ARIMA → </a:t>
            </a:r>
            <a:r>
              <a:rPr lang="fr-FR" dirty="0" err="1">
                <a:ea typeface="+mn-lt"/>
                <a:cs typeface="+mn-lt"/>
              </a:rPr>
              <a:t>Forecasting</a:t>
            </a:r>
            <a:endParaRPr lang="fr-FR"/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PCA → </a:t>
            </a:r>
            <a:r>
              <a:rPr lang="fr-FR" dirty="0" err="1">
                <a:ea typeface="+mn-lt"/>
                <a:cs typeface="+mn-lt"/>
              </a:rPr>
              <a:t>Funding</a:t>
            </a:r>
            <a:r>
              <a:rPr lang="fr-FR" dirty="0">
                <a:ea typeface="+mn-lt"/>
                <a:cs typeface="+mn-lt"/>
              </a:rPr>
              <a:t> concentration</a:t>
            </a:r>
            <a:endParaRPr lang="fr-FR"/>
          </a:p>
          <a:p>
            <a:pPr marL="0" indent="0">
              <a:lnSpc>
                <a:spcPct val="100000"/>
              </a:lnSpc>
              <a:buNone/>
            </a:pPr>
            <a:br>
              <a:rPr lang="fr-FR" b="1" dirty="0">
                <a:ea typeface="+mn-lt"/>
                <a:cs typeface="+mn-lt"/>
              </a:rPr>
            </a:br>
            <a:r>
              <a:rPr lang="fr-FR" b="1" dirty="0">
                <a:ea typeface="+mn-lt"/>
                <a:cs typeface="+mn-lt"/>
              </a:rPr>
              <a:t> “I </a:t>
            </a:r>
            <a:r>
              <a:rPr lang="fr-FR" b="1" err="1">
                <a:ea typeface="+mn-lt"/>
                <a:cs typeface="+mn-lt"/>
              </a:rPr>
              <a:t>apply</a:t>
            </a:r>
            <a:r>
              <a:rPr lang="fr-FR" b="1" dirty="0">
                <a:ea typeface="+mn-lt"/>
                <a:cs typeface="+mn-lt"/>
              </a:rPr>
              <a:t> a combination of </a:t>
            </a:r>
            <a:r>
              <a:rPr lang="fr-FR" b="1" err="1">
                <a:ea typeface="+mn-lt"/>
                <a:cs typeface="+mn-lt"/>
              </a:rPr>
              <a:t>statistical</a:t>
            </a:r>
            <a:r>
              <a:rPr lang="fr-FR" b="1" dirty="0">
                <a:ea typeface="+mn-lt"/>
                <a:cs typeface="+mn-lt"/>
              </a:rPr>
              <a:t> and machine </a:t>
            </a:r>
            <a:r>
              <a:rPr lang="fr-FR" b="1" err="1">
                <a:ea typeface="+mn-lt"/>
                <a:cs typeface="+mn-lt"/>
              </a:rPr>
              <a:t>learning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methods</a:t>
            </a:r>
            <a:r>
              <a:rPr lang="fr-FR" b="1" dirty="0">
                <a:ea typeface="+mn-lt"/>
                <a:cs typeface="+mn-lt"/>
              </a:rPr>
              <a:t> to </a:t>
            </a:r>
            <a:r>
              <a:rPr lang="fr-FR" b="1" err="1">
                <a:ea typeface="+mn-lt"/>
                <a:cs typeface="+mn-lt"/>
              </a:rPr>
              <a:t>answer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different</a:t>
            </a:r>
            <a:r>
              <a:rPr lang="fr-FR" b="1" dirty="0">
                <a:ea typeface="+mn-lt"/>
                <a:cs typeface="+mn-lt"/>
              </a:rPr>
              <a:t> types of questions, </a:t>
            </a:r>
            <a:r>
              <a:rPr lang="fr-FR" b="1" err="1">
                <a:ea typeface="+mn-lt"/>
                <a:cs typeface="+mn-lt"/>
              </a:rPr>
              <a:t>from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hypothesis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testing</a:t>
            </a:r>
            <a:r>
              <a:rPr lang="fr-FR" b="1" dirty="0">
                <a:ea typeface="+mn-lt"/>
                <a:cs typeface="+mn-lt"/>
              </a:rPr>
              <a:t> to </a:t>
            </a:r>
            <a:r>
              <a:rPr lang="fr-FR" b="1" err="1">
                <a:ea typeface="+mn-lt"/>
                <a:cs typeface="+mn-lt"/>
              </a:rPr>
              <a:t>forecasting</a:t>
            </a:r>
            <a:r>
              <a:rPr lang="fr-FR" b="1" dirty="0">
                <a:ea typeface="+mn-lt"/>
                <a:cs typeface="+mn-lt"/>
              </a:rPr>
              <a:t>.”</a:t>
            </a:r>
            <a:endParaRPr lang="fr-FR"/>
          </a:p>
          <a:p>
            <a:pPr>
              <a:lnSpc>
                <a:spcPct val="100000"/>
              </a:lnSpc>
            </a:pPr>
            <a:endParaRPr lang="fr-FR"/>
          </a:p>
        </p:txBody>
      </p:sp>
      <p:pic>
        <p:nvPicPr>
          <p:cNvPr id="5" name="Picture 4" descr="Formules mathématiques complexes sur un tableau noir">
            <a:extLst>
              <a:ext uri="{FF2B5EF4-FFF2-40B4-BE49-F238E27FC236}">
                <a16:creationId xmlns:a16="http://schemas.microsoft.com/office/drawing/2014/main" id="{3D54DC3D-D06B-191D-DBED-77989F4DA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60" r="26507" b="-1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1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ECC6670-1BDE-C87D-D72E-038613B24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fr-FR" dirty="0"/>
              <a:t>Tools </a:t>
            </a:r>
            <a:r>
              <a:rPr lang="fr-FR" dirty="0" err="1"/>
              <a:t>used</a:t>
            </a:r>
            <a:r>
              <a:rPr lang="fr-FR" dirty="0"/>
              <a:t> &amp; data </a:t>
            </a:r>
            <a:r>
              <a:rPr lang="fr-FR" dirty="0" err="1"/>
              <a:t>product</a:t>
            </a:r>
          </a:p>
        </p:txBody>
      </p:sp>
      <p:cxnSp>
        <p:nvCxnSpPr>
          <p:cNvPr id="45" name="Straight Connector 38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Outils">
            <a:extLst>
              <a:ext uri="{FF2B5EF4-FFF2-40B4-BE49-F238E27FC236}">
                <a16:creationId xmlns:a16="http://schemas.microsoft.com/office/drawing/2014/main" id="{AB436AF4-AAB7-C553-F5F9-D03A7DB7B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111" y="3046576"/>
            <a:ext cx="2969276" cy="2969276"/>
          </a:xfrm>
          <a:prstGeom prst="rect">
            <a:avLst/>
          </a:prstGeom>
        </p:spPr>
      </p:pic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592A9186-8051-4781-48E3-E801D29EC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R → Data </a:t>
            </a:r>
            <a:r>
              <a:rPr lang="fr-FR" dirty="0" err="1">
                <a:ea typeface="+mn-lt"/>
                <a:cs typeface="+mn-lt"/>
              </a:rPr>
              <a:t>cleaning</a:t>
            </a:r>
            <a:r>
              <a:rPr lang="fr-FR" dirty="0">
                <a:ea typeface="+mn-lt"/>
                <a:cs typeface="+mn-lt"/>
              </a:rPr>
              <a:t>, </a:t>
            </a:r>
            <a:r>
              <a:rPr lang="fr-FR" dirty="0" err="1">
                <a:ea typeface="+mn-lt"/>
                <a:cs typeface="+mn-lt"/>
              </a:rPr>
              <a:t>statistical</a:t>
            </a:r>
            <a:r>
              <a:rPr lang="fr-FR" dirty="0">
                <a:ea typeface="+mn-lt"/>
                <a:cs typeface="+mn-lt"/>
              </a:rPr>
              <a:t> </a:t>
            </a:r>
            <a:r>
              <a:rPr lang="fr-FR" dirty="0" err="1">
                <a:ea typeface="+mn-lt"/>
                <a:cs typeface="+mn-lt"/>
              </a:rPr>
              <a:t>analysis</a:t>
            </a:r>
            <a:r>
              <a:rPr lang="fr-FR" dirty="0">
                <a:ea typeface="+mn-lt"/>
                <a:cs typeface="+mn-lt"/>
              </a:rPr>
              <a:t>, and modeling</a:t>
            </a:r>
            <a:endParaRPr lang="fr-FR" dirty="0"/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Tableau → Interactive </a:t>
            </a:r>
            <a:r>
              <a:rPr lang="fr-FR" dirty="0" err="1">
                <a:ea typeface="+mn-lt"/>
                <a:cs typeface="+mn-lt"/>
              </a:rPr>
              <a:t>visualization</a:t>
            </a:r>
            <a:endParaRPr lang="fr-FR" dirty="0" err="1"/>
          </a:p>
          <a:p>
            <a:pPr>
              <a:lnSpc>
                <a:spcPct val="100000"/>
              </a:lnSpc>
            </a:pPr>
            <a:r>
              <a:rPr lang="fr-FR" dirty="0">
                <a:ea typeface="+mn-lt"/>
                <a:cs typeface="+mn-lt"/>
              </a:rPr>
              <a:t>Interactive Tableau </a:t>
            </a:r>
            <a:r>
              <a:rPr lang="fr-FR" dirty="0" err="1">
                <a:ea typeface="+mn-lt"/>
                <a:cs typeface="+mn-lt"/>
              </a:rPr>
              <a:t>dashboard</a:t>
            </a:r>
            <a:endParaRPr lang="fr-FR" dirty="0" err="1"/>
          </a:p>
          <a:p>
            <a:pPr>
              <a:lnSpc>
                <a:spcPct val="100000"/>
              </a:lnSpc>
            </a:pPr>
            <a:r>
              <a:rPr lang="fr-FR" dirty="0" err="1">
                <a:ea typeface="+mn-lt"/>
                <a:cs typeface="+mn-lt"/>
              </a:rPr>
              <a:t>Filters</a:t>
            </a:r>
            <a:r>
              <a:rPr lang="fr-FR" dirty="0">
                <a:ea typeface="+mn-lt"/>
                <a:cs typeface="+mn-lt"/>
              </a:rPr>
              <a:t>:</a:t>
            </a:r>
            <a:endParaRPr lang="fr-FR" dirty="0"/>
          </a:p>
          <a:p>
            <a:pPr lvl="1">
              <a:lnSpc>
                <a:spcPct val="100000"/>
              </a:lnSpc>
            </a:pPr>
            <a:r>
              <a:rPr lang="fr-FR" dirty="0" err="1">
                <a:ea typeface="+mn-lt"/>
                <a:cs typeface="+mn-lt"/>
              </a:rPr>
              <a:t>Year</a:t>
            </a:r>
            <a:endParaRPr lang="fr-FR" dirty="0" err="1"/>
          </a:p>
          <a:p>
            <a:pPr lvl="1">
              <a:lnSpc>
                <a:spcPct val="100000"/>
              </a:lnSpc>
            </a:pPr>
            <a:r>
              <a:rPr lang="fr-FR">
                <a:ea typeface="+mn-lt"/>
                <a:cs typeface="+mn-lt"/>
              </a:rPr>
              <a:t>Agency</a:t>
            </a:r>
            <a:endParaRPr lang="fr-FR"/>
          </a:p>
          <a:p>
            <a:pPr>
              <a:lnSpc>
                <a:spcPct val="100000"/>
              </a:lnSpc>
            </a:pPr>
            <a:r>
              <a:rPr lang="fr-FR" dirty="0" err="1">
                <a:ea typeface="+mn-lt"/>
                <a:cs typeface="+mn-lt"/>
              </a:rPr>
              <a:t>Includes</a:t>
            </a:r>
            <a:r>
              <a:rPr lang="fr-FR" dirty="0">
                <a:ea typeface="+mn-lt"/>
                <a:cs typeface="+mn-lt"/>
              </a:rPr>
              <a:t> narrative “data story”</a:t>
            </a:r>
            <a:endParaRPr lang="fr-FR" dirty="0"/>
          </a:p>
          <a:p>
            <a:pPr marL="0" indent="0">
              <a:lnSpc>
                <a:spcPct val="100000"/>
              </a:lnSpc>
              <a:buNone/>
            </a:pPr>
            <a:br>
              <a:rPr lang="fr-FR" b="1" dirty="0">
                <a:ea typeface="+mn-lt"/>
                <a:cs typeface="+mn-lt"/>
              </a:rPr>
            </a:br>
            <a:r>
              <a:rPr lang="fr-FR" b="1" dirty="0">
                <a:ea typeface="+mn-lt"/>
                <a:cs typeface="+mn-lt"/>
              </a:rPr>
              <a:t> “The final output </a:t>
            </a:r>
            <a:r>
              <a:rPr lang="fr-FR" b="1" err="1">
                <a:ea typeface="+mn-lt"/>
                <a:cs typeface="+mn-lt"/>
              </a:rPr>
              <a:t>is</a:t>
            </a:r>
            <a:r>
              <a:rPr lang="fr-FR" b="1" dirty="0">
                <a:ea typeface="+mn-lt"/>
                <a:cs typeface="+mn-lt"/>
              </a:rPr>
              <a:t> an interactive </a:t>
            </a:r>
            <a:r>
              <a:rPr lang="fr-FR" b="1" err="1">
                <a:ea typeface="+mn-lt"/>
                <a:cs typeface="+mn-lt"/>
              </a:rPr>
              <a:t>dashboard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that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allows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users</a:t>
            </a:r>
            <a:r>
              <a:rPr lang="fr-FR" b="1" dirty="0">
                <a:ea typeface="+mn-lt"/>
                <a:cs typeface="+mn-lt"/>
              </a:rPr>
              <a:t> to explore how </a:t>
            </a:r>
            <a:r>
              <a:rPr lang="fr-FR" b="1" err="1">
                <a:ea typeface="+mn-lt"/>
                <a:cs typeface="+mn-lt"/>
              </a:rPr>
              <a:t>funding</a:t>
            </a:r>
            <a:r>
              <a:rPr lang="fr-FR" b="1" dirty="0">
                <a:ea typeface="+mn-lt"/>
                <a:cs typeface="+mn-lt"/>
              </a:rPr>
              <a:t> varies by </a:t>
            </a:r>
            <a:r>
              <a:rPr lang="fr-FR" b="1" err="1">
                <a:ea typeface="+mn-lt"/>
                <a:cs typeface="+mn-lt"/>
              </a:rPr>
              <a:t>year</a:t>
            </a:r>
            <a:r>
              <a:rPr lang="fr-FR" b="1" dirty="0">
                <a:ea typeface="+mn-lt"/>
                <a:cs typeface="+mn-lt"/>
              </a:rPr>
              <a:t> and </a:t>
            </a:r>
            <a:r>
              <a:rPr lang="fr-FR" b="1" err="1">
                <a:ea typeface="+mn-lt"/>
                <a:cs typeface="+mn-lt"/>
              </a:rPr>
              <a:t>agency</a:t>
            </a:r>
            <a:r>
              <a:rPr lang="fr-FR" b="1" dirty="0">
                <a:ea typeface="+mn-lt"/>
                <a:cs typeface="+mn-lt"/>
              </a:rPr>
              <a:t>. It </a:t>
            </a:r>
            <a:r>
              <a:rPr lang="fr-FR" b="1" err="1">
                <a:ea typeface="+mn-lt"/>
                <a:cs typeface="+mn-lt"/>
              </a:rPr>
              <a:t>also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includes</a:t>
            </a:r>
            <a:r>
              <a:rPr lang="fr-FR" b="1" dirty="0">
                <a:ea typeface="+mn-lt"/>
                <a:cs typeface="+mn-lt"/>
              </a:rPr>
              <a:t> a narrative component </a:t>
            </a:r>
            <a:r>
              <a:rPr lang="fr-FR" b="1" err="1">
                <a:ea typeface="+mn-lt"/>
                <a:cs typeface="+mn-lt"/>
              </a:rPr>
              <a:t>highlighting</a:t>
            </a:r>
            <a:r>
              <a:rPr lang="fr-FR" b="1" dirty="0">
                <a:ea typeface="+mn-lt"/>
                <a:cs typeface="+mn-lt"/>
              </a:rPr>
              <a:t> shifts in </a:t>
            </a:r>
            <a:r>
              <a:rPr lang="fr-FR" b="1" err="1">
                <a:ea typeface="+mn-lt"/>
                <a:cs typeface="+mn-lt"/>
              </a:rPr>
              <a:t>funding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priorities</a:t>
            </a:r>
            <a:r>
              <a:rPr lang="fr-FR" b="1" dirty="0">
                <a:ea typeface="+mn-lt"/>
                <a:cs typeface="+mn-lt"/>
              </a:rPr>
              <a:t> </a:t>
            </a:r>
            <a:r>
              <a:rPr lang="fr-FR" b="1" err="1">
                <a:ea typeface="+mn-lt"/>
                <a:cs typeface="+mn-lt"/>
              </a:rPr>
              <a:t>during</a:t>
            </a:r>
            <a:r>
              <a:rPr lang="fr-FR" b="1" dirty="0">
                <a:ea typeface="+mn-lt"/>
                <a:cs typeface="+mn-lt"/>
              </a:rPr>
              <a:t> the COVID-19 </a:t>
            </a:r>
            <a:r>
              <a:rPr lang="fr-FR" b="1" err="1">
                <a:ea typeface="+mn-lt"/>
                <a:cs typeface="+mn-lt"/>
              </a:rPr>
              <a:t>period</a:t>
            </a:r>
            <a:r>
              <a:rPr lang="fr-FR" b="1" dirty="0">
                <a:ea typeface="+mn-lt"/>
                <a:cs typeface="+mn-lt"/>
              </a:rPr>
              <a:t>.”</a:t>
            </a:r>
            <a:endParaRPr lang="fr-FR" dirty="0"/>
          </a:p>
          <a:p>
            <a:pPr>
              <a:lnSpc>
                <a:spcPct val="100000"/>
              </a:lnSpc>
            </a:pPr>
            <a:endParaRPr lang="fr-FR"/>
          </a:p>
        </p:txBody>
      </p:sp>
      <p:cxnSp>
        <p:nvCxnSpPr>
          <p:cNvPr id="46" name="Straight Connector 40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72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45FFF7-0220-0260-BD70-E87C22611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r>
              <a:rPr lang="fr-FR"/>
              <a:t>Project timeline</a:t>
            </a:r>
          </a:p>
        </p:txBody>
      </p:sp>
      <p:pic>
        <p:nvPicPr>
          <p:cNvPr id="5" name="Picture 4" descr="Personne écrivant sur un bloc-notes">
            <a:extLst>
              <a:ext uri="{FF2B5EF4-FFF2-40B4-BE49-F238E27FC236}">
                <a16:creationId xmlns:a16="http://schemas.microsoft.com/office/drawing/2014/main" id="{532610B1-D344-1CD3-E55D-FC89364080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41" r="9713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073F9C-4987-0E6C-86BB-F475BF46A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700" b="1">
                <a:ea typeface="+mn-lt"/>
                <a:cs typeface="+mn-lt"/>
              </a:rPr>
              <a:t>Content:</a:t>
            </a:r>
            <a:endParaRPr lang="fr-FR" sz="1700"/>
          </a:p>
          <a:p>
            <a:pPr>
              <a:lnSpc>
                <a:spcPct val="100000"/>
              </a:lnSpc>
            </a:pPr>
            <a:r>
              <a:rPr lang="fr-FR" sz="1700">
                <a:ea typeface="+mn-lt"/>
                <a:cs typeface="+mn-lt"/>
              </a:rPr>
              <a:t>Data cleaning (R)</a:t>
            </a:r>
            <a:endParaRPr lang="fr-FR" sz="1700"/>
          </a:p>
          <a:p>
            <a:pPr>
              <a:lnSpc>
                <a:spcPct val="100000"/>
              </a:lnSpc>
            </a:pPr>
            <a:r>
              <a:rPr lang="fr-FR" sz="1700">
                <a:ea typeface="+mn-lt"/>
                <a:cs typeface="+mn-lt"/>
              </a:rPr>
              <a:t>Exploratory data analysis</a:t>
            </a:r>
            <a:endParaRPr lang="fr-FR" sz="1700"/>
          </a:p>
          <a:p>
            <a:pPr>
              <a:lnSpc>
                <a:spcPct val="100000"/>
              </a:lnSpc>
            </a:pPr>
            <a:r>
              <a:rPr lang="fr-FR" sz="1700">
                <a:ea typeface="+mn-lt"/>
                <a:cs typeface="+mn-lt"/>
              </a:rPr>
              <a:t>Statistical modeling (R)</a:t>
            </a:r>
            <a:endParaRPr lang="fr-FR" sz="1700"/>
          </a:p>
          <a:p>
            <a:pPr>
              <a:lnSpc>
                <a:spcPct val="100000"/>
              </a:lnSpc>
            </a:pPr>
            <a:r>
              <a:rPr lang="fr-FR" sz="1700">
                <a:ea typeface="+mn-lt"/>
                <a:cs typeface="+mn-lt"/>
              </a:rPr>
              <a:t>Dashboard development (Tableau)</a:t>
            </a:r>
            <a:endParaRPr lang="fr-FR" sz="1700"/>
          </a:p>
          <a:p>
            <a:pPr>
              <a:lnSpc>
                <a:spcPct val="100000"/>
              </a:lnSpc>
            </a:pPr>
            <a:r>
              <a:rPr lang="fr-FR" sz="1700">
                <a:ea typeface="+mn-lt"/>
                <a:cs typeface="+mn-lt"/>
              </a:rPr>
              <a:t>Final presentation</a:t>
            </a:r>
            <a:endParaRPr lang="fr-FR" sz="1700"/>
          </a:p>
          <a:p>
            <a:pPr marL="0" indent="0">
              <a:lnSpc>
                <a:spcPct val="100000"/>
              </a:lnSpc>
              <a:buNone/>
            </a:pPr>
            <a:br>
              <a:rPr lang="fr-FR" sz="1700" b="1">
                <a:ea typeface="+mn-lt"/>
                <a:cs typeface="+mn-lt"/>
              </a:rPr>
            </a:br>
            <a:r>
              <a:rPr lang="fr-FR" sz="1700" b="1">
                <a:ea typeface="+mn-lt"/>
                <a:cs typeface="+mn-lt"/>
              </a:rPr>
              <a:t> “The </a:t>
            </a:r>
            <a:r>
              <a:rPr lang="fr-FR" sz="1700" b="1" err="1">
                <a:ea typeface="+mn-lt"/>
                <a:cs typeface="+mn-lt"/>
              </a:rPr>
              <a:t>project</a:t>
            </a:r>
            <a:r>
              <a:rPr lang="fr-FR" sz="1700" b="1">
                <a:ea typeface="+mn-lt"/>
                <a:cs typeface="+mn-lt"/>
              </a:rPr>
              <a:t> </a:t>
            </a:r>
            <a:r>
              <a:rPr lang="fr-FR" sz="1700" b="1" err="1">
                <a:ea typeface="+mn-lt"/>
                <a:cs typeface="+mn-lt"/>
              </a:rPr>
              <a:t>follows</a:t>
            </a:r>
            <a:r>
              <a:rPr lang="fr-FR" sz="1700" b="1">
                <a:ea typeface="+mn-lt"/>
                <a:cs typeface="+mn-lt"/>
              </a:rPr>
              <a:t> a </a:t>
            </a:r>
            <a:r>
              <a:rPr lang="fr-FR" sz="1700" b="1" err="1">
                <a:ea typeface="+mn-lt"/>
                <a:cs typeface="+mn-lt"/>
              </a:rPr>
              <a:t>structured</a:t>
            </a:r>
            <a:r>
              <a:rPr lang="fr-FR" sz="1700" b="1">
                <a:ea typeface="+mn-lt"/>
                <a:cs typeface="+mn-lt"/>
              </a:rPr>
              <a:t> workflow </a:t>
            </a:r>
            <a:r>
              <a:rPr lang="fr-FR" sz="1700" b="1" err="1">
                <a:ea typeface="+mn-lt"/>
                <a:cs typeface="+mn-lt"/>
              </a:rPr>
              <a:t>beginning</a:t>
            </a:r>
            <a:r>
              <a:rPr lang="fr-FR" sz="1700" b="1">
                <a:ea typeface="+mn-lt"/>
                <a:cs typeface="+mn-lt"/>
              </a:rPr>
              <a:t> </a:t>
            </a:r>
            <a:r>
              <a:rPr lang="fr-FR" sz="1700" b="1" err="1">
                <a:ea typeface="+mn-lt"/>
                <a:cs typeface="+mn-lt"/>
              </a:rPr>
              <a:t>with</a:t>
            </a:r>
            <a:r>
              <a:rPr lang="fr-FR" sz="1700" b="1">
                <a:ea typeface="+mn-lt"/>
                <a:cs typeface="+mn-lt"/>
              </a:rPr>
              <a:t> data </a:t>
            </a:r>
            <a:r>
              <a:rPr lang="fr-FR" sz="1700" b="1" err="1">
                <a:ea typeface="+mn-lt"/>
                <a:cs typeface="+mn-lt"/>
              </a:rPr>
              <a:t>preparation</a:t>
            </a:r>
            <a:r>
              <a:rPr lang="fr-FR" sz="1700" b="1">
                <a:ea typeface="+mn-lt"/>
                <a:cs typeface="+mn-lt"/>
              </a:rPr>
              <a:t> in R, </a:t>
            </a:r>
            <a:r>
              <a:rPr lang="fr-FR" sz="1700" b="1" err="1">
                <a:ea typeface="+mn-lt"/>
                <a:cs typeface="+mn-lt"/>
              </a:rPr>
              <a:t>followed</a:t>
            </a:r>
            <a:r>
              <a:rPr lang="fr-FR" sz="1700" b="1">
                <a:ea typeface="+mn-lt"/>
                <a:cs typeface="+mn-lt"/>
              </a:rPr>
              <a:t> by </a:t>
            </a:r>
            <a:r>
              <a:rPr lang="fr-FR" sz="1700" b="1" err="1">
                <a:ea typeface="+mn-lt"/>
                <a:cs typeface="+mn-lt"/>
              </a:rPr>
              <a:t>analysis</a:t>
            </a:r>
            <a:r>
              <a:rPr lang="fr-FR" sz="1700" b="1">
                <a:ea typeface="+mn-lt"/>
                <a:cs typeface="+mn-lt"/>
              </a:rPr>
              <a:t> and modeling, and </a:t>
            </a:r>
            <a:r>
              <a:rPr lang="fr-FR" sz="1700" b="1" err="1">
                <a:ea typeface="+mn-lt"/>
                <a:cs typeface="+mn-lt"/>
              </a:rPr>
              <a:t>concluding</a:t>
            </a:r>
            <a:r>
              <a:rPr lang="fr-FR" sz="1700" b="1">
                <a:ea typeface="+mn-lt"/>
                <a:cs typeface="+mn-lt"/>
              </a:rPr>
              <a:t> </a:t>
            </a:r>
            <a:r>
              <a:rPr lang="fr-FR" sz="1700" b="1" err="1">
                <a:ea typeface="+mn-lt"/>
                <a:cs typeface="+mn-lt"/>
              </a:rPr>
              <a:t>with</a:t>
            </a:r>
            <a:r>
              <a:rPr lang="fr-FR" sz="1700" b="1">
                <a:ea typeface="+mn-lt"/>
                <a:cs typeface="+mn-lt"/>
              </a:rPr>
              <a:t> </a:t>
            </a:r>
            <a:r>
              <a:rPr lang="fr-FR" sz="1700" b="1" err="1">
                <a:ea typeface="+mn-lt"/>
                <a:cs typeface="+mn-lt"/>
              </a:rPr>
              <a:t>visualization</a:t>
            </a:r>
            <a:r>
              <a:rPr lang="fr-FR" sz="1700" b="1">
                <a:ea typeface="+mn-lt"/>
                <a:cs typeface="+mn-lt"/>
              </a:rPr>
              <a:t> and </a:t>
            </a:r>
            <a:r>
              <a:rPr lang="fr-FR" sz="1700" b="1" err="1">
                <a:ea typeface="+mn-lt"/>
                <a:cs typeface="+mn-lt"/>
              </a:rPr>
              <a:t>presentation</a:t>
            </a:r>
            <a:r>
              <a:rPr lang="fr-FR" sz="1700" b="1">
                <a:ea typeface="+mn-lt"/>
                <a:cs typeface="+mn-lt"/>
              </a:rPr>
              <a:t>.”</a:t>
            </a:r>
            <a:endParaRPr lang="fr-FR" sz="1700"/>
          </a:p>
          <a:p>
            <a:pPr>
              <a:lnSpc>
                <a:spcPct val="100000"/>
              </a:lnSpc>
            </a:pPr>
            <a:endParaRPr lang="fr-FR" sz="170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792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5" name="Picture 4" descr="Seul dans la foule">
            <a:extLst>
              <a:ext uri="{FF2B5EF4-FFF2-40B4-BE49-F238E27FC236}">
                <a16:creationId xmlns:a16="http://schemas.microsoft.com/office/drawing/2014/main" id="{D044E602-8523-CC85-7C46-AEF645BD94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01" r="9091" b="13417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709FE8-2861-BC77-A556-FCBBECC5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86" y="908651"/>
            <a:ext cx="5230366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800"/>
              <a:t>Thank you guys </a:t>
            </a:r>
            <a:br>
              <a:rPr lang="en-US" sz="6800"/>
            </a:br>
            <a:r>
              <a:rPr lang="en-US" sz="6800"/>
              <a:t>Any questions ?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678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ChronicleVTI</vt:lpstr>
      <vt:lpstr>Data 205 Project Plan Maryland State Aid Analysis (FY2009–2024)</vt:lpstr>
      <vt:lpstr>Data overview</vt:lpstr>
      <vt:lpstr>Data  Limitations </vt:lpstr>
      <vt:lpstr>Research Goal </vt:lpstr>
      <vt:lpstr>Key research  questions</vt:lpstr>
      <vt:lpstr>Methods and models</vt:lpstr>
      <vt:lpstr>Tools used &amp; data product</vt:lpstr>
      <vt:lpstr>Project timeline</vt:lpstr>
      <vt:lpstr>Thank you guys  Any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99</cp:revision>
  <dcterms:created xsi:type="dcterms:W3CDTF">2026-03-25T14:49:43Z</dcterms:created>
  <dcterms:modified xsi:type="dcterms:W3CDTF">2026-03-25T15:34:34Z</dcterms:modified>
</cp:coreProperties>
</file>